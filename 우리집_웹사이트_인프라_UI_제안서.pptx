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7691e67eb4b42" /><Relationship Type="http://schemas.openxmlformats.org/officeDocument/2006/relationships/extended-properties" Target="/docProps/app.xml" Id="R8c101fe2d2424066" /><Relationship Type="http://schemas.openxmlformats.org/officeDocument/2006/relationships/officeDocument" Target="/ppt/presentation.xml" Id="R771afbb63daf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1a0adc85df4d01"/>
  </p:sldMasterIdLst>
  <p:notesMasterIdLst>
    <p:notesMasterId xmlns:r="http://schemas.openxmlformats.org/officeDocument/2006/relationships" r:id="R197b3784ab394dd5"/>
  </p:notesMasterIdLst>
  <p:sldIdLst>
    <p:sldId xmlns:r="http://schemas.openxmlformats.org/officeDocument/2006/relationships" id="256" r:id="R056735cb9d7c44e6"/>
    <p:sldId xmlns:r="http://schemas.openxmlformats.org/officeDocument/2006/relationships" id="257" r:id="R64c917e4d6294615"/>
    <p:sldId xmlns:r="http://schemas.openxmlformats.org/officeDocument/2006/relationships" id="258" r:id="R32d183b611c14211"/>
    <p:sldId xmlns:r="http://schemas.openxmlformats.org/officeDocument/2006/relationships" id="259" r:id="R9778a057d666449c"/>
    <p:sldId xmlns:r="http://schemas.openxmlformats.org/officeDocument/2006/relationships" id="260" r:id="Raf266515d3994d10"/>
    <p:sldId xmlns:r="http://schemas.openxmlformats.org/officeDocument/2006/relationships" id="261" r:id="R17c17a2291cf454a"/>
    <p:sldId xmlns:r="http://schemas.openxmlformats.org/officeDocument/2006/relationships" id="262" r:id="Re640d20363024bc0"/>
    <p:sldId xmlns:r="http://schemas.openxmlformats.org/officeDocument/2006/relationships" id="263" r:id="Rf3e0122ad3f94bce"/>
    <p:sldId xmlns:r="http://schemas.openxmlformats.org/officeDocument/2006/relationships" id="264" r:id="Rfd586b2d0dfd4801"/>
    <p:sldId xmlns:r="http://schemas.openxmlformats.org/officeDocument/2006/relationships" id="265" r:id="R18b93522c413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fdfd8d520a4c62" /><Relationship Type="http://schemas.openxmlformats.org/officeDocument/2006/relationships/slideMaster" Target="/ppt/slideMasters/slideMaster1.xml" Id="Rfe1a0adc85df4d01" /><Relationship Type="http://schemas.openxmlformats.org/officeDocument/2006/relationships/notesMaster" Target="/ppt/notesMasters/notesMaster1.xml" Id="R197b3784ab394dd5" /><Relationship Type="http://schemas.openxmlformats.org/officeDocument/2006/relationships/presProps" Target="/ppt/presProps.xml" Id="Rf18ac38e16ec45e6" /><Relationship Type="http://schemas.openxmlformats.org/officeDocument/2006/relationships/tableStyles" Target="/ppt/tableStyles.xml" Id="R27b56fe8b0724a3e" /><Relationship Type="http://schemas.openxmlformats.org/officeDocument/2006/relationships/slide" Target="/ppt/slides/slide1.xml" Id="R056735cb9d7c44e6" /><Relationship Type="http://schemas.openxmlformats.org/officeDocument/2006/relationships/slide" Target="/ppt/slides/slide2.xml" Id="R64c917e4d6294615" /><Relationship Type="http://schemas.openxmlformats.org/officeDocument/2006/relationships/slide" Target="/ppt/slides/slide3.xml" Id="R32d183b611c14211" /><Relationship Type="http://schemas.openxmlformats.org/officeDocument/2006/relationships/slide" Target="/ppt/slides/slide4.xml" Id="R9778a057d666449c" /><Relationship Type="http://schemas.openxmlformats.org/officeDocument/2006/relationships/slide" Target="/ppt/slides/slide5.xml" Id="Raf266515d3994d10" /><Relationship Type="http://schemas.openxmlformats.org/officeDocument/2006/relationships/slide" Target="/ppt/slides/slide6.xml" Id="R17c17a2291cf454a" /><Relationship Type="http://schemas.openxmlformats.org/officeDocument/2006/relationships/slide" Target="/ppt/slides/slide7.xml" Id="Re640d20363024bc0" /><Relationship Type="http://schemas.openxmlformats.org/officeDocument/2006/relationships/slide" Target="/ppt/slides/slide8.xml" Id="Rf3e0122ad3f94bce" /><Relationship Type="http://schemas.openxmlformats.org/officeDocument/2006/relationships/slide" Target="/ppt/slides/slide9.xml" Id="Rfd586b2d0dfd4801" /><Relationship Type="http://schemas.openxmlformats.org/officeDocument/2006/relationships/slide" Target="/ppt/slides/slide10.xml" Id="R18b93522c413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8d089a733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00fd85fef64378" /><Relationship Type="http://schemas.openxmlformats.org/officeDocument/2006/relationships/notesMaster" Target="/ppt/notesMasters/notesMaster1.xml" Id="R961c69b46d6a48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a225a1e3594398" /><Relationship Type="http://schemas.openxmlformats.org/officeDocument/2006/relationships/notesMaster" Target="/ppt/notesMasters/notesMaster1.xml" Id="R0213de43df54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bd0ea849a24a2c" /><Relationship Type="http://schemas.openxmlformats.org/officeDocument/2006/relationships/notesMaster" Target="/ppt/notesMasters/notesMaster1.xml" Id="R78510ebc7aa94f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caf7ec82b4b10" /><Relationship Type="http://schemas.openxmlformats.org/officeDocument/2006/relationships/notesMaster" Target="/ppt/notesMasters/notesMaster1.xml" Id="R86da717eee75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e22dae2aec45a1" /><Relationship Type="http://schemas.openxmlformats.org/officeDocument/2006/relationships/notesMaster" Target="/ppt/notesMasters/notesMaster1.xml" Id="Re92c2bd1b6f64d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301a99df24b10" /><Relationship Type="http://schemas.openxmlformats.org/officeDocument/2006/relationships/notesMaster" Target="/ppt/notesMasters/notesMaster1.xml" Id="R554cd7aefb7543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265c5a769448af" /><Relationship Type="http://schemas.openxmlformats.org/officeDocument/2006/relationships/notesMaster" Target="/ppt/notesMasters/notesMaster1.xml" Id="R0b934c74717e4d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3fedf7a964bda" /><Relationship Type="http://schemas.openxmlformats.org/officeDocument/2006/relationships/notesMaster" Target="/ppt/notesMasters/notesMaster1.xml" Id="Rba98423a5c71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b5dadf07734456" /><Relationship Type="http://schemas.openxmlformats.org/officeDocument/2006/relationships/notesMaster" Target="/ppt/notesMasters/notesMaster1.xml" Id="R7426c189e6714b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55f17f30004782" /><Relationship Type="http://schemas.openxmlformats.org/officeDocument/2006/relationships/notesMaster" Target="/ppt/notesMasters/notesMaster1.xml" Id="Rdcdb53444350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https://supabase.com/pricing</a:t>
            </a:r>
          </a:p>
          <a:p xmlns:a="http://schemas.openxmlformats.org/drawingml/2006/main">
            <a:r>
              <a:t>https://developers.cloudflare.com/pages/platform/limits/</a:t>
            </a:r>
          </a:p>
          <a:p xmlns:a="http://schemas.openxmlformats.org/drawingml/2006/main">
            <a:r>
              <a:t>https://cloud.google.com/run/pricing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https://supabase.com/pricing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planning based on PROJECT_PLAN_KO.md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4ed37b8f746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ef59242734b71" /><Relationship Type="http://schemas.openxmlformats.org/officeDocument/2006/relationships/slideLayout" Target="/ppt/slideLayouts/slideLayout1.xml" Id="R0e49e1a46daa47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9e1a46daa47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e3a65ae874df6" /><Relationship Type="http://schemas.openxmlformats.org/officeDocument/2006/relationships/notesSlide" Target="/ppt/notesSlides/notesSlide1.xml" Id="R9eeb895a27b349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fbad0b65846d8" /><Relationship Type="http://schemas.openxmlformats.org/officeDocument/2006/relationships/notesSlide" Target="/ppt/notesSlides/notesSlide2.xml" Id="Rd78f067a50f04b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dbd30b31b4e27" /><Relationship Type="http://schemas.openxmlformats.org/officeDocument/2006/relationships/notesSlide" Target="/ppt/notesSlides/notesSlide3.xml" Id="R6ba6f2f919934b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8e6281ded4343" /><Relationship Type="http://schemas.openxmlformats.org/officeDocument/2006/relationships/notesSlide" Target="/ppt/notesSlides/notesSlide4.xml" Id="Rb60ca676099c42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9185c2aea4a7c" /><Relationship Type="http://schemas.openxmlformats.org/officeDocument/2006/relationships/notesSlide" Target="/ppt/notesSlides/notesSlide5.xml" Id="Ra2ae1d3ac87e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d24b616e34442" /><Relationship Type="http://schemas.openxmlformats.org/officeDocument/2006/relationships/notesSlide" Target="/ppt/notesSlides/notesSlide6.xml" Id="Rdc32c2d21eb642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37af47c84055" /><Relationship Type="http://schemas.openxmlformats.org/officeDocument/2006/relationships/notesSlide" Target="/ppt/notesSlides/notesSlide7.xml" Id="R940d5e2a174b46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94fc303ae4f87" /><Relationship Type="http://schemas.openxmlformats.org/officeDocument/2006/relationships/notesSlide" Target="/ppt/notesSlides/notesSlide8.xml" Id="Rf6f15864fccf48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1137ae3ea4579" /><Relationship Type="http://schemas.openxmlformats.org/officeDocument/2006/relationships/notesSlide" Target="/ppt/notesSlides/notesSlide9.xml" Id="Rd5aa992a54a4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a488508bc4cca" /><Relationship Type="http://schemas.openxmlformats.org/officeDocument/2006/relationships/notesSlide" Target="/ppt/notesSlides/notesSlide10.xml" Id="Rf6a93f3ee9334f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FD64085-200B-4067-B012-D2C72CC5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HOME OS · PROJECT BLUEPRINT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E6D0B22-E0EA-47BD-BCF9-61E0D340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우리집 웹사이트</a:t>
            </a:r>
          </a:p>
          <a:p xmlns:a="http://schemas.openxmlformats.org/drawingml/2006/main">
            <a:pPr algn="l">
              <a:defRPr sz="4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인프라 &amp; UI 제안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AE097B2A-F344-4DAC-B810-F15F4CB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일정 · 가계부 · 디데이 · 목표를</a:t>
            </a:r>
          </a:p>
          <a:p xmlns:a="http://schemas.openxmlformats.org/drawingml/2006/main">
            <a:pPr algn="l">
              <a:defRPr sz="18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PC와 모바일에서 하나로 관리</a:t>
            </a:r>
          </a:p>
        </p:txBody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0F35E73F-CA71-4B2F-9470-9C231300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field-title">
            <a:extLst xmlns:a="http://schemas.openxmlformats.org/drawingml/2006/main">
              <a:ext uri="{FF2B5EF4-FFF2-40B4-BE49-F238E27FC236}">
                <a16:creationId xmlns:a16="http://schemas.microsoft.com/office/drawing/2014/main" id="{3C4D7D5B-5F29-4835-AF33-F508AF49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47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 집의 데이터를</a:t>
            </a:r>
          </a:p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한눈에, 안전하게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22A6B96E-6974-4D04-B941-727DCAFA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390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field-body">
            <a:extLst xmlns:a="http://schemas.openxmlformats.org/drawingml/2006/main">
              <a:ext uri="{FF2B5EF4-FFF2-40B4-BE49-F238E27FC236}">
                <a16:creationId xmlns:a16="http://schemas.microsoft.com/office/drawing/2014/main" id="{CFC324C6-2563-4B8D-9D22-075DA53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333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반응형 웹 · 가족 단위 권한</a:t>
            </a:r>
          </a:p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Google Calendar · 은행 명세 자동 분류</a:t>
            </a:r>
          </a:p>
          <a:p xmlns:a="http://schemas.openxmlformats.org/drawingml/2006/main">
            <a:pPr algn="l">
              <a:def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초기 고정비 0원 중심의 서버리스 구성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C4245C84-4F3D-41F6-9F77-9E94B6BF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2026.08.23</a:t>
            </a:r>
          </a:p>
        </p:txBody>
      </p:sp>
    </p:spTree>
    <p:extLst>
      <p:ext uri="{BB962C8B-B14F-4D97-AF65-F5344CB8AC3E}">
        <p14:creationId xmlns:p14="http://schemas.microsoft.com/office/powerpoint/2010/main" val="1497075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0AD9D5F4-3983-4497-BF0B-4E6BE62B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어디서 접속해도 같은 흐름을 유지합니다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41B5EDD5-1FAF-4933-BF9F-448EC20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xp-kicker-0">
            <a:extLst xmlns:a="http://schemas.openxmlformats.org/drawingml/2006/main">
              <a:ext uri="{FF2B5EF4-FFF2-40B4-BE49-F238E27FC236}">
                <a16:creationId xmlns:a16="http://schemas.microsoft.com/office/drawing/2014/main" id="{A7279E3E-1985-4A55-BFDB-CE36DFB7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PC WEB</a:t>
            </a:r>
          </a:p>
        </p:txBody>
      </p:sp>
      <p:sp>
        <p:nvSpPr>
          <p:cNvPr id="4" name="xp-head-0">
            <a:extLst xmlns:a="http://schemas.openxmlformats.org/drawingml/2006/main">
              <a:ext uri="{FF2B5EF4-FFF2-40B4-BE49-F238E27FC236}">
                <a16:creationId xmlns:a16="http://schemas.microsoft.com/office/drawing/2014/main" id="{ECEC286F-9EB8-457E-97FD-E5C92C90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한 화면에서 비교·분석</a:t>
            </a:r>
          </a:p>
        </p:txBody>
      </p:sp>
      <p:sp>
        <p:nvSpPr>
          <p:cNvPr id="5" name="xp-rule-0">
            <a:extLst xmlns:a="http://schemas.openxmlformats.org/drawingml/2006/main">
              <a:ext uri="{FF2B5EF4-FFF2-40B4-BE49-F238E27FC236}">
                <a16:creationId xmlns:a16="http://schemas.microsoft.com/office/drawing/2014/main" id="{8935C1B8-64E0-4425-A003-047A13EC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xp-body-0">
            <a:extLst xmlns:a="http://schemas.openxmlformats.org/drawingml/2006/main">
              <a:ext uri="{FF2B5EF4-FFF2-40B4-BE49-F238E27FC236}">
                <a16:creationId xmlns:a16="http://schemas.microsoft.com/office/drawing/2014/main" id="{BBFABD89-66D3-402A-9CFC-B9F90C51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월간 캘린더, 거래 테이블, 대시보드처럼 넓은 정보 밀도가 필요한 작업에 최적화</a:t>
            </a:r>
          </a:p>
        </p:txBody>
      </p:sp>
      <p:sp>
        <p:nvSpPr>
          <p:cNvPr id="7" name="xp-kicker-1">
            <a:extLst xmlns:a="http://schemas.openxmlformats.org/drawingml/2006/main">
              <a:ext uri="{FF2B5EF4-FFF2-40B4-BE49-F238E27FC236}">
                <a16:creationId xmlns:a16="http://schemas.microsoft.com/office/drawing/2014/main" id="{7D3FED6E-E309-40C6-883B-3C85666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MOBILE</a:t>
            </a:r>
          </a:p>
        </p:txBody>
      </p:sp>
      <p:sp>
        <p:nvSpPr>
          <p:cNvPr id="8" name="xp-head-1">
            <a:extLst xmlns:a="http://schemas.openxmlformats.org/drawingml/2006/main">
              <a:ext uri="{FF2B5EF4-FFF2-40B4-BE49-F238E27FC236}">
                <a16:creationId xmlns:a16="http://schemas.microsoft.com/office/drawing/2014/main" id="{96E65F27-1760-4824-9EC0-B8134781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28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기록은 10초 안에</a:t>
            </a:r>
          </a:p>
        </p:txBody>
      </p:sp>
      <p:sp>
        <p:nvSpPr>
          <p:cNvPr id="9" name="xp-rule-1">
            <a:extLst xmlns:a="http://schemas.openxmlformats.org/drawingml/2006/main">
              <a:ext uri="{FF2B5EF4-FFF2-40B4-BE49-F238E27FC236}">
                <a16:creationId xmlns:a16="http://schemas.microsoft.com/office/drawing/2014/main" id="{C8C1C825-86F1-4E2E-AAAA-DF1D3FD7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908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xp-body-1">
            <a:extLst xmlns:a="http://schemas.openxmlformats.org/drawingml/2006/main">
              <a:ext uri="{FF2B5EF4-FFF2-40B4-BE49-F238E27FC236}">
                <a16:creationId xmlns:a16="http://schemas.microsoft.com/office/drawing/2014/main" id="{E32C3F6D-7827-4CC7-A9C4-C95136D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하단 내비게이션, 빠른 거래 추가, 오늘 일정 중심으로 한 손 조작을 우선</a:t>
            </a:r>
          </a:p>
        </p:txBody>
      </p:sp>
      <p:sp>
        <p:nvSpPr>
          <p:cNvPr id="11" name="xp-kicker-2">
            <a:extLst xmlns:a="http://schemas.openxmlformats.org/drawingml/2006/main">
              <a:ext uri="{FF2B5EF4-FFF2-40B4-BE49-F238E27FC236}">
                <a16:creationId xmlns:a16="http://schemas.microsoft.com/office/drawing/2014/main" id="{9CC31F8D-81B7-468C-86FF-68F94BAB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PWA</a:t>
            </a:r>
          </a:p>
        </p:txBody>
      </p:sp>
      <p:sp>
        <p:nvSpPr>
          <p:cNvPr id="12" name="xp-head-2">
            <a:extLst xmlns:a="http://schemas.openxmlformats.org/drawingml/2006/main">
              <a:ext uri="{FF2B5EF4-FFF2-40B4-BE49-F238E27FC236}">
                <a16:creationId xmlns:a16="http://schemas.microsoft.com/office/drawing/2014/main" id="{290EFA73-F4F5-4D12-A436-15F3B4F6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설치 없이 앱처럼</a:t>
            </a:r>
          </a:p>
        </p:txBody>
      </p:sp>
      <p:sp>
        <p:nvSpPr>
          <p:cNvPr id="13" name="xp-rule-2">
            <a:extLst xmlns:a="http://schemas.openxmlformats.org/drawingml/2006/main">
              <a:ext uri="{FF2B5EF4-FFF2-40B4-BE49-F238E27FC236}">
                <a16:creationId xmlns:a16="http://schemas.microsoft.com/office/drawing/2014/main" id="{D3CA7ADE-95B3-4B41-B68C-18B37E76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xp-body-2">
            <a:extLst xmlns:a="http://schemas.openxmlformats.org/drawingml/2006/main">
              <a:ext uri="{FF2B5EF4-FFF2-40B4-BE49-F238E27FC236}">
                <a16:creationId xmlns:a16="http://schemas.microsoft.com/office/drawing/2014/main" id="{C0AFCDDA-F2B4-4AFA-AB4C-C8BBED82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iPhone·Android 홈 화면 추가, 동일 계정과 데이터, 향후 알림 기능 확장</a:t>
            </a:r>
          </a:p>
        </p:txBody>
      </p:sp>
      <p:sp>
        <p:nvSpPr>
          <p:cNvPr id="15" name="xp-bottom">
            <a:extLst xmlns:a="http://schemas.openxmlformats.org/drawingml/2006/main">
              <a:ext uri="{FF2B5EF4-FFF2-40B4-BE49-F238E27FC236}">
                <a16:creationId xmlns:a16="http://schemas.microsoft.com/office/drawing/2014/main" id="{C02C110F-5AF9-4F9A-A28B-64E9A102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Responsive Web 우선 → 사용 패턴이 확인되면 PWA 알림 → 필요 시 네이티브 앱</a:t>
            </a:r>
          </a:p>
        </p:txBody>
      </p:sp>
    </p:spTree>
    <p:extLst>
      <p:ext uri="{BB962C8B-B14F-4D97-AF65-F5344CB8AC3E}">
        <p14:creationId xmlns:p14="http://schemas.microsoft.com/office/powerpoint/2010/main" val="700756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3">
            <a:extLst xmlns:a="http://schemas.openxmlformats.org/drawingml/2006/main">
              <a:ext uri="{FF2B5EF4-FFF2-40B4-BE49-F238E27FC236}">
                <a16:creationId xmlns:a16="http://schemas.microsoft.com/office/drawing/2014/main" id="{3F5E28DF-9343-4F07-858D-8D8FD081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메뉴는 5개 핵심 행동으로 단순화합니다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EF73370-D46C-4532-8BA7-3FA7995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ia-intro">
            <a:extLst xmlns:a="http://schemas.openxmlformats.org/drawingml/2006/main">
              <a:ext uri="{FF2B5EF4-FFF2-40B4-BE49-F238E27FC236}">
                <a16:creationId xmlns:a16="http://schemas.microsoft.com/office/drawing/2014/main" id="{210945A9-71C3-486E-B41B-81F317C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PC는 좌측 사이드바, 모바일은 하단 탭 4개 + 더보기로 동일한 정보 구조를 유지합니다.</a:t>
            </a:r>
          </a:p>
        </p:txBody>
      </p:sp>
      <p:sp>
        <p:nvSpPr>
          <p:cNvPr id="4" name="ia-head">
            <a:extLst xmlns:a="http://schemas.openxmlformats.org/drawingml/2006/main">
              <a:ext uri="{FF2B5EF4-FFF2-40B4-BE49-F238E27FC236}">
                <a16:creationId xmlns:a16="http://schemas.microsoft.com/office/drawing/2014/main" id="{A46F58E3-6D59-45BE-B3DF-F3542533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a-h1">
            <a:extLst xmlns:a="http://schemas.openxmlformats.org/drawingml/2006/main">
              <a:ext uri="{FF2B5EF4-FFF2-40B4-BE49-F238E27FC236}">
                <a16:creationId xmlns:a16="http://schemas.microsoft.com/office/drawing/2014/main" id="{2B898BB6-BDB7-42D1-8FFA-3284B865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메뉴</a:t>
            </a:r>
          </a:p>
        </p:txBody>
      </p:sp>
      <p:sp>
        <p:nvSpPr>
          <p:cNvPr id="6" name="ia-h2">
            <a:extLst xmlns:a="http://schemas.openxmlformats.org/drawingml/2006/main">
              <a:ext uri="{FF2B5EF4-FFF2-40B4-BE49-F238E27FC236}">
                <a16:creationId xmlns:a16="http://schemas.microsoft.com/office/drawing/2014/main" id="{27F257DF-ED1D-4455-91EE-F571C369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화면과 기능</a:t>
            </a:r>
          </a:p>
        </p:txBody>
      </p:sp>
      <p:sp>
        <p:nvSpPr>
          <p:cNvPr id="7" name="ia-h3">
            <a:extLst xmlns:a="http://schemas.openxmlformats.org/drawingml/2006/main">
              <a:ext uri="{FF2B5EF4-FFF2-40B4-BE49-F238E27FC236}">
                <a16:creationId xmlns:a16="http://schemas.microsoft.com/office/drawing/2014/main" id="{6E8205DC-AFB8-4633-BFD1-6DA8B0F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</a:t>
            </a:r>
          </a:p>
        </p:txBody>
      </p:sp>
      <p:sp>
        <p:nvSpPr>
          <p:cNvPr id="8" name="ia-row-0">
            <a:extLst xmlns:a="http://schemas.openxmlformats.org/drawingml/2006/main">
              <a:ext uri="{FF2B5EF4-FFF2-40B4-BE49-F238E27FC236}">
                <a16:creationId xmlns:a16="http://schemas.microsoft.com/office/drawing/2014/main" id="{576BB276-7B06-4E6F-99BC-A6D47E67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ia-c1-0">
            <a:extLst xmlns:a="http://schemas.openxmlformats.org/drawingml/2006/main">
              <a:ext uri="{FF2B5EF4-FFF2-40B4-BE49-F238E27FC236}">
                <a16:creationId xmlns:a16="http://schemas.microsoft.com/office/drawing/2014/main" id="{25E28956-69AA-4184-A522-A9991524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10" name="ia-c2-0">
            <a:extLst xmlns:a="http://schemas.openxmlformats.org/drawingml/2006/main">
              <a:ext uri="{FF2B5EF4-FFF2-40B4-BE49-F238E27FC236}">
                <a16:creationId xmlns:a16="http://schemas.microsoft.com/office/drawing/2014/main" id="{8BE0AC89-51B2-41A6-B74C-83417B90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오늘 일정 · 이번 달 지출 · 가까운 D-day · 목표 진행률</a:t>
            </a:r>
          </a:p>
        </p:txBody>
      </p:sp>
      <p:sp>
        <p:nvSpPr>
          <p:cNvPr id="11" name="ia-c3-0">
            <a:extLst xmlns:a="http://schemas.openxmlformats.org/drawingml/2006/main">
              <a:ext uri="{FF2B5EF4-FFF2-40B4-BE49-F238E27FC236}">
                <a16:creationId xmlns:a16="http://schemas.microsoft.com/office/drawing/2014/main" id="{A5E60138-EE85-49EA-AB46-BF025812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모두</a:t>
            </a:r>
          </a:p>
        </p:txBody>
      </p:sp>
      <p:sp>
        <p:nvSpPr>
          <p:cNvPr id="12" name="ia-row-1">
            <a:extLst xmlns:a="http://schemas.openxmlformats.org/drawingml/2006/main">
              <a:ext uri="{FF2B5EF4-FFF2-40B4-BE49-F238E27FC236}">
                <a16:creationId xmlns:a16="http://schemas.microsoft.com/office/drawing/2014/main" id="{B97CF79D-E896-4195-80E5-C4D27919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9082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a-c1-1">
            <a:extLst xmlns:a="http://schemas.openxmlformats.org/drawingml/2006/main">
              <a:ext uri="{FF2B5EF4-FFF2-40B4-BE49-F238E27FC236}">
                <a16:creationId xmlns:a16="http://schemas.microsoft.com/office/drawing/2014/main" id="{4CA1B3D0-07DB-48E8-A115-42870F72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14" name="ia-c2-1">
            <a:extLst xmlns:a="http://schemas.openxmlformats.org/drawingml/2006/main">
              <a:ext uri="{FF2B5EF4-FFF2-40B4-BE49-F238E27FC236}">
                <a16:creationId xmlns:a16="http://schemas.microsoft.com/office/drawing/2014/main" id="{721D2FCE-B81F-4F2E-B624-7E663498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860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월/주/목록 · Google Calendar 연결 · 공유 범위</a:t>
            </a:r>
          </a:p>
        </p:txBody>
      </p:sp>
      <p:sp>
        <p:nvSpPr>
          <p:cNvPr id="15" name="ia-c3-1">
            <a:extLst xmlns:a="http://schemas.openxmlformats.org/drawingml/2006/main">
              <a:ext uri="{FF2B5EF4-FFF2-40B4-BE49-F238E27FC236}">
                <a16:creationId xmlns:a16="http://schemas.microsoft.com/office/drawing/2014/main" id="{3B7899EB-8B19-459F-B52D-73264C3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860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모두</a:t>
            </a:r>
          </a:p>
        </p:txBody>
      </p:sp>
      <p:sp>
        <p:nvSpPr>
          <p:cNvPr id="16" name="ia-row-2">
            <a:extLst xmlns:a="http://schemas.openxmlformats.org/drawingml/2006/main">
              <a:ext uri="{FF2B5EF4-FFF2-40B4-BE49-F238E27FC236}">
                <a16:creationId xmlns:a16="http://schemas.microsoft.com/office/drawing/2014/main" id="{DAA5D46C-07D1-4867-94A5-977CD50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ia-c1-2">
            <a:extLst xmlns:a="http://schemas.openxmlformats.org/drawingml/2006/main">
              <a:ext uri="{FF2B5EF4-FFF2-40B4-BE49-F238E27FC236}">
                <a16:creationId xmlns:a16="http://schemas.microsoft.com/office/drawing/2014/main" id="{B98225C0-4138-4FAF-9D0F-BB495E82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가계부</a:t>
            </a:r>
          </a:p>
        </p:txBody>
      </p:sp>
      <p:sp>
        <p:nvSpPr>
          <p:cNvPr id="18" name="ia-c2-2">
            <a:extLst xmlns:a="http://schemas.openxmlformats.org/drawingml/2006/main">
              <a:ext uri="{FF2B5EF4-FFF2-40B4-BE49-F238E27FC236}">
                <a16:creationId xmlns:a16="http://schemas.microsoft.com/office/drawing/2014/main" id="{E23789C4-977E-45E3-B346-4EB258A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052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거래 · 예산 · 계정 · 명세 업로드 · 분석</a:t>
            </a:r>
          </a:p>
        </p:txBody>
      </p:sp>
      <p:sp>
        <p:nvSpPr>
          <p:cNvPr id="19" name="ia-c3-2">
            <a:extLst xmlns:a="http://schemas.openxmlformats.org/drawingml/2006/main">
              <a:ext uri="{FF2B5EF4-FFF2-40B4-BE49-F238E27FC236}">
                <a16:creationId xmlns:a16="http://schemas.microsoft.com/office/drawing/2014/main" id="{69B4F9D3-D541-47CB-A203-2A9DF4AC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0520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모두</a:t>
            </a:r>
          </a:p>
        </p:txBody>
      </p:sp>
      <p:sp>
        <p:nvSpPr>
          <p:cNvPr id="20" name="ia-row-3">
            <a:extLst xmlns:a="http://schemas.openxmlformats.org/drawingml/2006/main">
              <a:ext uri="{FF2B5EF4-FFF2-40B4-BE49-F238E27FC236}">
                <a16:creationId xmlns:a16="http://schemas.microsoft.com/office/drawing/2014/main" id="{8B216B1B-3FE6-439F-86A1-9B17AFB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ia-c1-3">
            <a:extLst xmlns:a="http://schemas.openxmlformats.org/drawingml/2006/main">
              <a:ext uri="{FF2B5EF4-FFF2-40B4-BE49-F238E27FC236}">
                <a16:creationId xmlns:a16="http://schemas.microsoft.com/office/drawing/2014/main" id="{2B3CE157-4A7E-48B0-A288-4549CD4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디데이</a:t>
            </a:r>
          </a:p>
        </p:txBody>
      </p:sp>
      <p:sp>
        <p:nvSpPr>
          <p:cNvPr id="22" name="ia-c2-3">
            <a:extLst xmlns:a="http://schemas.openxmlformats.org/drawingml/2006/main">
              <a:ext uri="{FF2B5EF4-FFF2-40B4-BE49-F238E27FC236}">
                <a16:creationId xmlns:a16="http://schemas.microsoft.com/office/drawing/2014/main" id="{7BEF7390-1B18-42C9-9B25-B4546DB2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243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기념일 · 반복 · 남은 날짜</a:t>
            </a:r>
          </a:p>
        </p:txBody>
      </p:sp>
      <p:sp>
        <p:nvSpPr>
          <p:cNvPr id="23" name="ia-c3-3">
            <a:extLst xmlns:a="http://schemas.openxmlformats.org/drawingml/2006/main">
              <a:ext uri="{FF2B5EF4-FFF2-40B4-BE49-F238E27FC236}">
                <a16:creationId xmlns:a16="http://schemas.microsoft.com/office/drawing/2014/main" id="{B26F9251-B297-40E4-9CEC-4DF83390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2432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모두</a:t>
            </a:r>
          </a:p>
        </p:txBody>
      </p:sp>
      <p:sp>
        <p:nvSpPr>
          <p:cNvPr id="24" name="ia-row-4">
            <a:extLst xmlns:a="http://schemas.openxmlformats.org/drawingml/2006/main">
              <a:ext uri="{FF2B5EF4-FFF2-40B4-BE49-F238E27FC236}">
                <a16:creationId xmlns:a16="http://schemas.microsoft.com/office/drawing/2014/main" id="{90B6E169-F9F0-4935-8A52-A58171EF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ia-c1-4">
            <a:extLst xmlns:a="http://schemas.openxmlformats.org/drawingml/2006/main">
              <a:ext uri="{FF2B5EF4-FFF2-40B4-BE49-F238E27FC236}">
                <a16:creationId xmlns:a16="http://schemas.microsoft.com/office/drawing/2014/main" id="{107309D0-6A84-43B2-AB54-85A2FBB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26" name="ia-c2-4">
            <a:extLst xmlns:a="http://schemas.openxmlformats.org/drawingml/2006/main">
              <a:ext uri="{FF2B5EF4-FFF2-40B4-BE49-F238E27FC236}">
                <a16:creationId xmlns:a16="http://schemas.microsoft.com/office/drawing/2014/main" id="{4E2D0808-C847-4E4E-AEDD-5E1A245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개인/공동 목표 · 진행 기록 · 마감일</a:t>
            </a:r>
          </a:p>
        </p:txBody>
      </p:sp>
      <p:sp>
        <p:nvSpPr>
          <p:cNvPr id="27" name="ia-c3-4">
            <a:extLst xmlns:a="http://schemas.openxmlformats.org/drawingml/2006/main">
              <a:ext uri="{FF2B5EF4-FFF2-40B4-BE49-F238E27FC236}">
                <a16:creationId xmlns:a16="http://schemas.microsoft.com/office/drawing/2014/main" id="{68E1E7D2-915A-4A44-8793-68F7B5A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434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모두</a:t>
            </a:r>
          </a:p>
        </p:txBody>
      </p:sp>
      <p:sp>
        <p:nvSpPr>
          <p:cNvPr id="28" name="ia-row-5">
            <a:extLst xmlns:a="http://schemas.openxmlformats.org/drawingml/2006/main">
              <a:ext uri="{FF2B5EF4-FFF2-40B4-BE49-F238E27FC236}">
                <a16:creationId xmlns:a16="http://schemas.microsoft.com/office/drawing/2014/main" id="{C1E35717-E0AA-4E4C-9053-3E2343B4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67325"/>
            <a:ext cx="11391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ia-c1-5">
            <a:extLst xmlns:a="http://schemas.openxmlformats.org/drawingml/2006/main">
              <a:ext uri="{FF2B5EF4-FFF2-40B4-BE49-F238E27FC236}">
                <a16:creationId xmlns:a16="http://schemas.microsoft.com/office/drawing/2014/main" id="{58D179F7-36EA-48A2-9570-C06D35A8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30" name="ia-c2-5">
            <a:extLst xmlns:a="http://schemas.openxmlformats.org/drawingml/2006/main">
              <a:ext uri="{FF2B5EF4-FFF2-40B4-BE49-F238E27FC236}">
                <a16:creationId xmlns:a16="http://schemas.microsoft.com/office/drawing/2014/main" id="{E1ABD5F6-E196-4FB8-97B3-A3100B04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625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구성원 · 권한 · 연동 · 내보내기</a:t>
            </a:r>
          </a:p>
        </p:txBody>
      </p:sp>
      <p:sp>
        <p:nvSpPr>
          <p:cNvPr id="31" name="ia-c3-5">
            <a:extLst xmlns:a="http://schemas.openxmlformats.org/drawingml/2006/main">
              <a:ext uri="{FF2B5EF4-FFF2-40B4-BE49-F238E27FC236}">
                <a16:creationId xmlns:a16="http://schemas.microsoft.com/office/drawing/2014/main" id="{2487E685-DBBB-4AA8-9F3F-7190BD3D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62575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4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59E42"/>
                </a:solidFill>
                <a:latin typeface="Malgun Gothic"/>
                <a:ea typeface="Malgun Gothic"/>
                <a:cs typeface="Malgun Gothic"/>
              </a:rPr>
              <a:t>더보기</a:t>
            </a:r>
          </a:p>
        </p:txBody>
      </p:sp>
    </p:spTree>
    <p:extLst>
      <p:ext uri="{BB962C8B-B14F-4D97-AF65-F5344CB8AC3E}">
        <p14:creationId xmlns:p14="http://schemas.microsoft.com/office/powerpoint/2010/main" val="813584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-4">
            <a:extLst xmlns:a="http://schemas.openxmlformats.org/drawingml/2006/main">
              <a:ext uri="{FF2B5EF4-FFF2-40B4-BE49-F238E27FC236}">
                <a16:creationId xmlns:a16="http://schemas.microsoft.com/office/drawing/2014/main" id="{8CB36222-1DA4-4E85-B4A5-17F9E0B0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PC에서는 탐색과 비교를 한 화면에 담습니다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BDAA172F-9DC8-4419-9B87-B769889E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desktop-frame">
            <a:extLst xmlns:a="http://schemas.openxmlformats.org/drawingml/2006/main">
              <a:ext uri="{FF2B5EF4-FFF2-40B4-BE49-F238E27FC236}">
                <a16:creationId xmlns:a16="http://schemas.microsoft.com/office/drawing/2014/main" id="{006EF6A9-961B-4A39-832D-D6BE83C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7810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4" name="desktop-side">
            <a:extLst xmlns:a="http://schemas.openxmlformats.org/drawingml/2006/main">
              <a:ext uri="{FF2B5EF4-FFF2-40B4-BE49-F238E27FC236}">
                <a16:creationId xmlns:a16="http://schemas.microsoft.com/office/drawing/2014/main" id="{7FC860CA-3916-49CD-907C-8F15CC6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619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ktop-logo">
            <a:extLst xmlns:a="http://schemas.openxmlformats.org/drawingml/2006/main">
              <a:ext uri="{FF2B5EF4-FFF2-40B4-BE49-F238E27FC236}">
                <a16:creationId xmlns:a16="http://schemas.microsoft.com/office/drawing/2014/main" id="{C1FB9000-2BE1-42ED-90D9-1FD6AF86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우리집</a:t>
            </a:r>
          </a:p>
        </p:txBody>
      </p:sp>
      <p:sp>
        <p:nvSpPr>
          <p:cNvPr id="6" name="desktop-nav-0">
            <a:extLst xmlns:a="http://schemas.openxmlformats.org/drawingml/2006/main">
              <a:ext uri="{FF2B5EF4-FFF2-40B4-BE49-F238E27FC236}">
                <a16:creationId xmlns:a16="http://schemas.microsoft.com/office/drawing/2014/main" id="{9C819334-4E49-4D7D-9F8A-A2257F8F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sp>
        <p:nvSpPr>
          <p:cNvPr id="7" name="desktop-nav-1">
            <a:extLst xmlns:a="http://schemas.openxmlformats.org/drawingml/2006/main">
              <a:ext uri="{FF2B5EF4-FFF2-40B4-BE49-F238E27FC236}">
                <a16:creationId xmlns:a16="http://schemas.microsoft.com/office/drawing/2014/main" id="{812FA426-B1CB-44E7-B6DF-65107D7E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8" name="desktop-nav-2">
            <a:extLst xmlns:a="http://schemas.openxmlformats.org/drawingml/2006/main">
              <a:ext uri="{FF2B5EF4-FFF2-40B4-BE49-F238E27FC236}">
                <a16:creationId xmlns:a16="http://schemas.microsoft.com/office/drawing/2014/main" id="{B5A2C140-5010-4B86-8FD4-6ABA991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가계부</a:t>
            </a:r>
          </a:p>
        </p:txBody>
      </p:sp>
      <p:sp>
        <p:nvSpPr>
          <p:cNvPr id="9" name="desktop-nav-3">
            <a:extLst xmlns:a="http://schemas.openxmlformats.org/drawingml/2006/main">
              <a:ext uri="{FF2B5EF4-FFF2-40B4-BE49-F238E27FC236}">
                <a16:creationId xmlns:a16="http://schemas.microsoft.com/office/drawing/2014/main" id="{2D9380F3-AAE0-407C-ADB9-69C33D7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디데이</a:t>
            </a:r>
          </a:p>
        </p:txBody>
      </p:sp>
      <p:sp>
        <p:nvSpPr>
          <p:cNvPr id="10" name="desktop-nav-4">
            <a:extLst xmlns:a="http://schemas.openxmlformats.org/drawingml/2006/main">
              <a:ext uri="{FF2B5EF4-FFF2-40B4-BE49-F238E27FC236}">
                <a16:creationId xmlns:a16="http://schemas.microsoft.com/office/drawing/2014/main" id="{A12B4868-FF7B-40D0-B2E3-256C2333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1" name="desktop-nav-5">
            <a:extLst xmlns:a="http://schemas.openxmlformats.org/drawingml/2006/main">
              <a:ext uri="{FF2B5EF4-FFF2-40B4-BE49-F238E27FC236}">
                <a16:creationId xmlns:a16="http://schemas.microsoft.com/office/drawing/2014/main" id="{8E7D38C6-63EB-4FD4-90B1-C981F229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12" name="desktop-title">
            <a:extLst xmlns:a="http://schemas.openxmlformats.org/drawingml/2006/main">
              <a:ext uri="{FF2B5EF4-FFF2-40B4-BE49-F238E27FC236}">
                <a16:creationId xmlns:a16="http://schemas.microsoft.com/office/drawing/2014/main" id="{BEDC446F-611F-48A6-A546-7584EAE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04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8월 가계부</a:t>
            </a:r>
          </a:p>
        </p:txBody>
      </p:sp>
      <p:sp>
        <p:nvSpPr>
          <p:cNvPr id="13" name="desktop-action">
            <a:extLst xmlns:a="http://schemas.openxmlformats.org/drawingml/2006/main">
              <a:ext uri="{FF2B5EF4-FFF2-40B4-BE49-F238E27FC236}">
                <a16:creationId xmlns:a16="http://schemas.microsoft.com/office/drawing/2014/main" id="{8B8030C8-6C91-4704-8553-6DA5F0F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+ 거래 추가</a:t>
            </a:r>
          </a:p>
        </p:txBody>
      </p:sp>
      <p:sp>
        <p:nvSpPr>
          <p:cNvPr id="14" name="desktop-kpi">
            <a:extLst xmlns:a="http://schemas.openxmlformats.org/drawingml/2006/main">
              <a:ext uri="{FF2B5EF4-FFF2-40B4-BE49-F238E27FC236}">
                <a16:creationId xmlns:a16="http://schemas.microsoft.com/office/drawing/2014/main" id="{362C5F34-D3F0-484B-BFD7-FE3D8D7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5524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sktop-kpi-1">
            <a:extLst xmlns:a="http://schemas.openxmlformats.org/drawingml/2006/main">
              <a:ext uri="{FF2B5EF4-FFF2-40B4-BE49-F238E27FC236}">
                <a16:creationId xmlns:a16="http://schemas.microsoft.com/office/drawing/2014/main" id="{7B602911-B0C7-4372-8C84-59C03560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383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이번 달 지출</a:t>
            </a:r>
          </a:p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2,480,000원</a:t>
            </a:r>
          </a:p>
        </p:txBody>
      </p:sp>
      <p:sp>
        <p:nvSpPr>
          <p:cNvPr id="16" name="desktop-kpi-2">
            <a:extLst xmlns:a="http://schemas.openxmlformats.org/drawingml/2006/main">
              <a:ext uri="{FF2B5EF4-FFF2-40B4-BE49-F238E27FC236}">
                <a16:creationId xmlns:a16="http://schemas.microsoft.com/office/drawing/2014/main" id="{2B788C5A-8445-4B8D-BDDF-9A3EB741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예산 잔여</a:t>
            </a:r>
          </a:p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820,000원</a:t>
            </a:r>
          </a:p>
        </p:txBody>
      </p:sp>
      <p:sp>
        <p:nvSpPr>
          <p:cNvPr id="17" name="desktop-kpi-3">
            <a:extLst xmlns:a="http://schemas.openxmlformats.org/drawingml/2006/main">
              <a:ext uri="{FF2B5EF4-FFF2-40B4-BE49-F238E27FC236}">
                <a16:creationId xmlns:a16="http://schemas.microsoft.com/office/drawing/2014/main" id="{33BEBA42-6E14-4809-8B52-2A30ACAC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A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A96B"/>
                </a:solidFill>
                <a:latin typeface="Malgun Gothic"/>
                <a:ea typeface="Malgun Gothic"/>
                <a:cs typeface="Malgun Gothic"/>
              </a:rPr>
              <a:t>전월 대비</a:t>
            </a:r>
          </a:p>
          <a:p xmlns:a="http://schemas.openxmlformats.org/drawingml/2006/main">
            <a:pPr algn="l">
              <a:defRPr sz="1500" b="1">
                <a:solidFill>
                  <a:srgbClr val="39A9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A96B"/>
                </a:solidFill>
                <a:latin typeface="Malgun Gothic"/>
                <a:ea typeface="Malgun Gothic"/>
                <a:cs typeface="Malgun Gothic"/>
              </a:rPr>
              <a:t>-6.2%</a:t>
            </a:r>
          </a:p>
        </p:txBody>
      </p:sp>
      <p:sp>
        <p:nvSpPr>
          <p:cNvPr id="18" name="desktop-table-head">
            <a:extLst xmlns:a="http://schemas.openxmlformats.org/drawingml/2006/main">
              <a:ext uri="{FF2B5EF4-FFF2-40B4-BE49-F238E27FC236}">
                <a16:creationId xmlns:a16="http://schemas.microsoft.com/office/drawing/2014/main" id="{6D456AA2-4FFB-408B-A61A-36D35DF8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38500"/>
            <a:ext cx="552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sktop-table-head-text">
            <a:extLst xmlns:a="http://schemas.openxmlformats.org/drawingml/2006/main">
              <a:ext uri="{FF2B5EF4-FFF2-40B4-BE49-F238E27FC236}">
                <a16:creationId xmlns:a16="http://schemas.microsoft.com/office/drawing/2014/main" id="{C440D01B-BF7E-41FE-B292-649A11EB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일자        사용처                 카테고리          금액</a:t>
            </a:r>
          </a:p>
        </p:txBody>
      </p:sp>
      <p:sp>
        <p:nvSpPr>
          <p:cNvPr id="20" name="desktop-row-0">
            <a:extLst xmlns:a="http://schemas.openxmlformats.org/drawingml/2006/main">
              <a:ext uri="{FF2B5EF4-FFF2-40B4-BE49-F238E27FC236}">
                <a16:creationId xmlns:a16="http://schemas.microsoft.com/office/drawing/2014/main" id="{7D1AA2DE-4FBF-4A88-9D9F-63F87062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08/23   ○○마트               식비             84,500</a:t>
            </a:r>
          </a:p>
        </p:txBody>
      </p:sp>
      <p:sp>
        <p:nvSpPr>
          <p:cNvPr id="21" name="desktop-line-0">
            <a:extLst xmlns:a="http://schemas.openxmlformats.org/drawingml/2006/main">
              <a:ext uri="{FF2B5EF4-FFF2-40B4-BE49-F238E27FC236}">
                <a16:creationId xmlns:a16="http://schemas.microsoft.com/office/drawing/2014/main" id="{30162C48-A360-4DF3-8051-E3DD74C1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767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sktop-row-1">
            <a:extLst xmlns:a="http://schemas.openxmlformats.org/drawingml/2006/main">
              <a:ext uri="{FF2B5EF4-FFF2-40B4-BE49-F238E27FC236}">
                <a16:creationId xmlns:a16="http://schemas.microsoft.com/office/drawing/2014/main" id="{7FD52C06-571F-4245-AEE9-7349099A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08/22   도시가스               주거             42,100</a:t>
            </a:r>
          </a:p>
        </p:txBody>
      </p:sp>
      <p:sp>
        <p:nvSpPr>
          <p:cNvPr id="23" name="desktop-line-1">
            <a:extLst xmlns:a="http://schemas.openxmlformats.org/drawingml/2006/main">
              <a:ext uri="{FF2B5EF4-FFF2-40B4-BE49-F238E27FC236}">
                <a16:creationId xmlns:a16="http://schemas.microsoft.com/office/drawing/2014/main" id="{1937323A-865F-4388-8AD8-CD417321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33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esktop-row-2">
            <a:extLst xmlns:a="http://schemas.openxmlformats.org/drawingml/2006/main">
              <a:ext uri="{FF2B5EF4-FFF2-40B4-BE49-F238E27FC236}">
                <a16:creationId xmlns:a16="http://schemas.microsoft.com/office/drawing/2014/main" id="{E3E7E491-4C79-4CEF-88E5-4BCF9245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482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08/21   온라인쇼핑             생활             31,900</a:t>
            </a:r>
          </a:p>
        </p:txBody>
      </p:sp>
      <p:sp>
        <p:nvSpPr>
          <p:cNvPr id="25" name="desktop-line-2">
            <a:extLst xmlns:a="http://schemas.openxmlformats.org/drawingml/2006/main">
              <a:ext uri="{FF2B5EF4-FFF2-40B4-BE49-F238E27FC236}">
                <a16:creationId xmlns:a16="http://schemas.microsoft.com/office/drawing/2014/main" id="{A6520A9C-9CB0-4AA8-9636-096967C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esktop-row-3">
            <a:extLst xmlns:a="http://schemas.openxmlformats.org/drawingml/2006/main">
              <a:ext uri="{FF2B5EF4-FFF2-40B4-BE49-F238E27FC236}">
                <a16:creationId xmlns:a16="http://schemas.microsoft.com/office/drawing/2014/main" id="{71CE5DAE-824A-4CBB-B77C-A335443B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054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08/20   월급                   수입          3,800,000</a:t>
            </a:r>
          </a:p>
        </p:txBody>
      </p:sp>
      <p:sp>
        <p:nvSpPr>
          <p:cNvPr id="27" name="desktop-line-3">
            <a:extLst xmlns:a="http://schemas.openxmlformats.org/drawingml/2006/main">
              <a:ext uri="{FF2B5EF4-FFF2-40B4-BE49-F238E27FC236}">
                <a16:creationId xmlns:a16="http://schemas.microsoft.com/office/drawing/2014/main" id="{F8BC5409-288B-4B2B-B339-C3D1FAFF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c-rule-head">
            <a:extLst xmlns:a="http://schemas.openxmlformats.org/drawingml/2006/main">
              <a:ext uri="{FF2B5EF4-FFF2-40B4-BE49-F238E27FC236}">
                <a16:creationId xmlns:a16="http://schemas.microsoft.com/office/drawing/2014/main" id="{2FD2FE39-7B31-4216-9B91-180E71B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29" name="pc-rule-body">
            <a:extLst xmlns:a="http://schemas.openxmlformats.org/drawingml/2006/main">
              <a:ext uri="{FF2B5EF4-FFF2-40B4-BE49-F238E27FC236}">
                <a16:creationId xmlns:a16="http://schemas.microsoft.com/office/drawing/2014/main" id="{99C1121D-CE64-4AD6-B122-6CCC49B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좌측 고정 메뉴로 빠른 전환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표·차트·필터를 넓게 배치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거래 입력은 우측 패널로 열기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키보드와 마우스 모두 지원</a:t>
            </a:r>
          </a:p>
        </p:txBody>
      </p:sp>
      <p:sp>
        <p:nvSpPr>
          <p:cNvPr id="30" name="pc-rule-callout">
            <a:extLst xmlns:a="http://schemas.openxmlformats.org/drawingml/2006/main">
              <a:ext uri="{FF2B5EF4-FFF2-40B4-BE49-F238E27FC236}">
                <a16:creationId xmlns:a16="http://schemas.microsoft.com/office/drawing/2014/main" id="{BC7530D1-709F-448E-A1E2-B12DDF8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복잡한 분석은 PC에서,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빠른 기록은 모바일에서</a:t>
            </a:r>
          </a:p>
        </p:txBody>
      </p:sp>
    </p:spTree>
    <p:extLst>
      <p:ext uri="{BB962C8B-B14F-4D97-AF65-F5344CB8AC3E}">
        <p14:creationId xmlns:p14="http://schemas.microsoft.com/office/powerpoint/2010/main" val="362439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itle-5">
            <a:extLst xmlns:a="http://schemas.openxmlformats.org/drawingml/2006/main">
              <a:ext uri="{FF2B5EF4-FFF2-40B4-BE49-F238E27FC236}">
                <a16:creationId xmlns:a16="http://schemas.microsoft.com/office/drawing/2014/main" id="{589B36B9-B803-4010-88F2-75F11C9E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모바일은 ‘오늘’과 ‘빠른 입력’에 집중합니다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E692F41-AF59-495A-A3EF-7B2670D4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phone-0">
            <a:extLst xmlns:a="http://schemas.openxmlformats.org/drawingml/2006/main">
              <a:ext uri="{FF2B5EF4-FFF2-40B4-BE49-F238E27FC236}">
                <a16:creationId xmlns:a16="http://schemas.microsoft.com/office/drawing/2014/main" id="{C2036201-B10A-4EA2-B1B7-01D5531A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571750" cy="48101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4" name="phone-notch-0">
            <a:extLst xmlns:a="http://schemas.openxmlformats.org/drawingml/2006/main">
              <a:ext uri="{FF2B5EF4-FFF2-40B4-BE49-F238E27FC236}">
                <a16:creationId xmlns:a16="http://schemas.microsoft.com/office/drawing/2014/main" id="{AD229356-D8D6-4586-9BE8-39D92CA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457325"/>
            <a:ext cx="895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one-1">
            <a:extLst xmlns:a="http://schemas.openxmlformats.org/drawingml/2006/main">
              <a:ext uri="{FF2B5EF4-FFF2-40B4-BE49-F238E27FC236}">
                <a16:creationId xmlns:a16="http://schemas.microsoft.com/office/drawing/2014/main" id="{F286579F-192E-460D-8A0B-0CBC52E0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2571750" cy="48101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6" name="phone-notch-1">
            <a:extLst xmlns:a="http://schemas.openxmlformats.org/drawingml/2006/main">
              <a:ext uri="{FF2B5EF4-FFF2-40B4-BE49-F238E27FC236}">
                <a16:creationId xmlns:a16="http://schemas.microsoft.com/office/drawing/2014/main" id="{90F0D21C-507A-4B91-AA3E-EB5CD70F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57325"/>
            <a:ext cx="8953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-home-title">
            <a:extLst xmlns:a="http://schemas.openxmlformats.org/drawingml/2006/main">
              <a:ext uri="{FF2B5EF4-FFF2-40B4-BE49-F238E27FC236}">
                <a16:creationId xmlns:a16="http://schemas.microsoft.com/office/drawing/2014/main" id="{88430F86-558B-4761-9E61-3759594C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안녕하세요 👋</a:t>
            </a:r>
          </a:p>
        </p:txBody>
      </p:sp>
      <p:sp>
        <p:nvSpPr>
          <p:cNvPr id="8" name="m-home-date">
            <a:extLst xmlns:a="http://schemas.openxmlformats.org/drawingml/2006/main">
              <a:ext uri="{FF2B5EF4-FFF2-40B4-BE49-F238E27FC236}">
                <a16:creationId xmlns:a16="http://schemas.microsoft.com/office/drawing/2014/main" id="{5EEC8E53-8CB0-4DAE-92B4-D4B798B3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43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8월 23일 일요일</a:t>
            </a:r>
          </a:p>
        </p:txBody>
      </p:sp>
      <p:sp>
        <p:nvSpPr>
          <p:cNvPr id="9" name="m-today">
            <a:extLst xmlns:a="http://schemas.openxmlformats.org/drawingml/2006/main">
              <a:ext uri="{FF2B5EF4-FFF2-40B4-BE49-F238E27FC236}">
                <a16:creationId xmlns:a16="http://schemas.microsoft.com/office/drawing/2014/main" id="{A8218BD5-F361-41EC-891C-158DC101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1526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-today-text">
            <a:extLst xmlns:a="http://schemas.openxmlformats.org/drawingml/2006/main">
              <a:ext uri="{FF2B5EF4-FFF2-40B4-BE49-F238E27FC236}">
                <a16:creationId xmlns:a16="http://schemas.microsoft.com/office/drawing/2014/main" id="{076213BC-FA74-4889-8B3E-F3E96AE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오늘 일정  2</a:t>
            </a:r>
          </a:p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19:00 장보기</a:t>
            </a:r>
          </a:p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21:00 가족 목표 체크</a:t>
            </a:r>
          </a:p>
        </p:txBody>
      </p:sp>
      <p:sp>
        <p:nvSpPr>
          <p:cNvPr id="11" name="m-summary">
            <a:extLst xmlns:a="http://schemas.openxmlformats.org/drawingml/2006/main">
              <a:ext uri="{FF2B5EF4-FFF2-40B4-BE49-F238E27FC236}">
                <a16:creationId xmlns:a16="http://schemas.microsoft.com/office/drawing/2014/main" id="{DA90CE61-A4DD-40FC-9F75-4FF1A06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2152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이번 달 지출</a:t>
            </a:r>
          </a:p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2,480,000원</a:t>
            </a:r>
          </a:p>
        </p:txBody>
      </p:sp>
      <p:sp>
        <p:nvSpPr>
          <p:cNvPr id="12" name="m-add">
            <a:extLst xmlns:a="http://schemas.openxmlformats.org/drawingml/2006/main">
              <a:ext uri="{FF2B5EF4-FFF2-40B4-BE49-F238E27FC236}">
                <a16:creationId xmlns:a16="http://schemas.microsoft.com/office/drawing/2014/main" id="{0ADABA28-4C33-43C2-B2A3-0C453531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57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-add-txt">
            <a:extLst xmlns:a="http://schemas.openxmlformats.org/drawingml/2006/main">
              <a:ext uri="{FF2B5EF4-FFF2-40B4-BE49-F238E27FC236}">
                <a16:creationId xmlns:a16="http://schemas.microsoft.com/office/drawing/2014/main" id="{705FFFA9-6600-46C6-B49B-4061C604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4" name="m-nav">
            <a:extLst xmlns:a="http://schemas.openxmlformats.org/drawingml/2006/main">
              <a:ext uri="{FF2B5EF4-FFF2-40B4-BE49-F238E27FC236}">
                <a16:creationId xmlns:a16="http://schemas.microsoft.com/office/drawing/2014/main" id="{9A88CA8E-98FE-4C9C-82A7-AF467F8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홈     일정     가계부     더보기</a:t>
            </a:r>
          </a:p>
        </p:txBody>
      </p:sp>
      <p:sp>
        <p:nvSpPr>
          <p:cNvPr id="15" name="m-add-title">
            <a:extLst xmlns:a="http://schemas.openxmlformats.org/drawingml/2006/main">
              <a:ext uri="{FF2B5EF4-FFF2-40B4-BE49-F238E27FC236}">
                <a16:creationId xmlns:a16="http://schemas.microsoft.com/office/drawing/2014/main" id="{3DF7BF89-F4AC-490C-949D-A716208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거래 추가</a:t>
            </a:r>
          </a:p>
        </p:txBody>
      </p:sp>
      <p:sp>
        <p:nvSpPr>
          <p:cNvPr id="16" name="m-label-0">
            <a:extLst xmlns:a="http://schemas.openxmlformats.org/drawingml/2006/main">
              <a:ext uri="{FF2B5EF4-FFF2-40B4-BE49-F238E27FC236}">
                <a16:creationId xmlns:a16="http://schemas.microsoft.com/office/drawing/2014/main" id="{A3BB09FF-861F-46F6-86DC-72778D41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금액</a:t>
            </a:r>
          </a:p>
        </p:txBody>
      </p:sp>
      <p:sp>
        <p:nvSpPr>
          <p:cNvPr id="17" name="m-value-0">
            <a:extLst xmlns:a="http://schemas.openxmlformats.org/drawingml/2006/main">
              <a:ext uri="{FF2B5EF4-FFF2-40B4-BE49-F238E27FC236}">
                <a16:creationId xmlns:a16="http://schemas.microsoft.com/office/drawing/2014/main" id="{6C309311-4CEB-456B-958F-6EAD426D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84,500원</a:t>
            </a:r>
          </a:p>
        </p:txBody>
      </p:sp>
      <p:sp>
        <p:nvSpPr>
          <p:cNvPr id="18" name="m-line-0">
            <a:extLst xmlns:a="http://schemas.openxmlformats.org/drawingml/2006/main">
              <a:ext uri="{FF2B5EF4-FFF2-40B4-BE49-F238E27FC236}">
                <a16:creationId xmlns:a16="http://schemas.microsoft.com/office/drawing/2014/main" id="{A2122F2A-3772-4D31-BC1D-6FF130CA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241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-label-1">
            <a:extLst xmlns:a="http://schemas.openxmlformats.org/drawingml/2006/main">
              <a:ext uri="{FF2B5EF4-FFF2-40B4-BE49-F238E27FC236}">
                <a16:creationId xmlns:a16="http://schemas.microsoft.com/office/drawing/2014/main" id="{0287EA99-CCE3-4066-B3D3-724BBBE3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사용처</a:t>
            </a:r>
          </a:p>
        </p:txBody>
      </p:sp>
      <p:sp>
        <p:nvSpPr>
          <p:cNvPr id="20" name="m-value-1">
            <a:extLst xmlns:a="http://schemas.openxmlformats.org/drawingml/2006/main">
              <a:ext uri="{FF2B5EF4-FFF2-40B4-BE49-F238E27FC236}">
                <a16:creationId xmlns:a16="http://schemas.microsoft.com/office/drawing/2014/main" id="{41F187E2-4826-4AAE-8615-4C997AA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○○마트</a:t>
            </a:r>
          </a:p>
        </p:txBody>
      </p:sp>
      <p:sp>
        <p:nvSpPr>
          <p:cNvPr id="21" name="m-line-1">
            <a:extLst xmlns:a="http://schemas.openxmlformats.org/drawingml/2006/main">
              <a:ext uri="{FF2B5EF4-FFF2-40B4-BE49-F238E27FC236}">
                <a16:creationId xmlns:a16="http://schemas.microsoft.com/office/drawing/2014/main" id="{43AB30BD-008F-430C-BA50-493ABF0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909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-label-2">
            <a:extLst xmlns:a="http://schemas.openxmlformats.org/drawingml/2006/main">
              <a:ext uri="{FF2B5EF4-FFF2-40B4-BE49-F238E27FC236}">
                <a16:creationId xmlns:a16="http://schemas.microsoft.com/office/drawing/2014/main" id="{6C10EA60-8FD5-43A8-8775-72833462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147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23" name="m-value-2">
            <a:extLst xmlns:a="http://schemas.openxmlformats.org/drawingml/2006/main">
              <a:ext uri="{FF2B5EF4-FFF2-40B4-BE49-F238E27FC236}">
                <a16:creationId xmlns:a16="http://schemas.microsoft.com/office/drawing/2014/main" id="{BAF36528-F8A5-4A81-86DF-5882EE1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식비 &gt; 장보기</a:t>
            </a:r>
          </a:p>
        </p:txBody>
      </p:sp>
      <p:sp>
        <p:nvSpPr>
          <p:cNvPr id="24" name="m-line-2">
            <a:extLst xmlns:a="http://schemas.openxmlformats.org/drawingml/2006/main">
              <a:ext uri="{FF2B5EF4-FFF2-40B4-BE49-F238E27FC236}">
                <a16:creationId xmlns:a16="http://schemas.microsoft.com/office/drawing/2014/main" id="{C9D74F72-56F0-45BA-A4F5-2AAC106A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576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-label-3">
            <a:extLst xmlns:a="http://schemas.openxmlformats.org/drawingml/2006/main">
              <a:ext uri="{FF2B5EF4-FFF2-40B4-BE49-F238E27FC236}">
                <a16:creationId xmlns:a16="http://schemas.microsoft.com/office/drawing/2014/main" id="{1B2915DD-B0E2-48E1-8984-AFE72A3D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날짜</a:t>
            </a:r>
          </a:p>
        </p:txBody>
      </p:sp>
      <p:sp>
        <p:nvSpPr>
          <p:cNvPr id="26" name="m-value-3">
            <a:extLst xmlns:a="http://schemas.openxmlformats.org/drawingml/2006/main">
              <a:ext uri="{FF2B5EF4-FFF2-40B4-BE49-F238E27FC236}">
                <a16:creationId xmlns:a16="http://schemas.microsoft.com/office/drawing/2014/main" id="{4DAEF4D5-E1EC-49B1-B78C-039B72F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962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2026.08.23</a:t>
            </a:r>
          </a:p>
        </p:txBody>
      </p:sp>
      <p:sp>
        <p:nvSpPr>
          <p:cNvPr id="27" name="m-line-3">
            <a:extLst xmlns:a="http://schemas.openxmlformats.org/drawingml/2006/main">
              <a:ext uri="{FF2B5EF4-FFF2-40B4-BE49-F238E27FC236}">
                <a16:creationId xmlns:a16="http://schemas.microsoft.com/office/drawing/2014/main" id="{4AAF78ED-5770-45C4-BCD4-0340D11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2442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-save">
            <a:extLst xmlns:a="http://schemas.openxmlformats.org/drawingml/2006/main">
              <a:ext uri="{FF2B5EF4-FFF2-40B4-BE49-F238E27FC236}">
                <a16:creationId xmlns:a16="http://schemas.microsoft.com/office/drawing/2014/main" id="{EC34DE7F-94DC-4AA3-A34A-9E7C9609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-save-txt">
            <a:extLst xmlns:a="http://schemas.openxmlformats.org/drawingml/2006/main">
              <a:ext uri="{FF2B5EF4-FFF2-40B4-BE49-F238E27FC236}">
                <a16:creationId xmlns:a16="http://schemas.microsoft.com/office/drawing/2014/main" id="{D2FF5711-469F-46FC-AB97-291157C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76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30" name="mobile-rule-head">
            <a:extLst xmlns:a="http://schemas.openxmlformats.org/drawingml/2006/main">
              <a:ext uri="{FF2B5EF4-FFF2-40B4-BE49-F238E27FC236}">
                <a16:creationId xmlns:a16="http://schemas.microsoft.com/office/drawing/2014/main" id="{D8B7B0F5-338F-41E2-927A-35653CBE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공통 반응형 규칙</a:t>
            </a:r>
          </a:p>
        </p:txBody>
      </p:sp>
      <p:sp>
        <p:nvSpPr>
          <p:cNvPr id="31" name="mobile-rule-body">
            <a:extLst xmlns:a="http://schemas.openxmlformats.org/drawingml/2006/main">
              <a:ext uri="{FF2B5EF4-FFF2-40B4-BE49-F238E27FC236}">
                <a16:creationId xmlns:a16="http://schemas.microsoft.com/office/drawing/2014/main" id="{E12102EA-D82D-4931-AD98-7396CF1B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최소 44px 터치 영역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중요 행동은 엄지 범위에 배치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iOS Safari·Android Chrome 우선 QA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날짜·금액 전용 키보드 활용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네트워크 실패 시 입력값 보존</a:t>
            </a:r>
          </a:p>
        </p:txBody>
      </p:sp>
      <p:sp>
        <p:nvSpPr>
          <p:cNvPr id="32" name="mobile-callout">
            <a:extLst xmlns:a="http://schemas.openxmlformats.org/drawingml/2006/main">
              <a:ext uri="{FF2B5EF4-FFF2-40B4-BE49-F238E27FC236}">
                <a16:creationId xmlns:a16="http://schemas.microsoft.com/office/drawing/2014/main" id="{8D08C708-53A7-4A6C-A086-9E32AC71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하나의 React 코드베이스로</a:t>
            </a:r>
          </a:p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PC·iPhone·Android 대응</a:t>
            </a:r>
          </a:p>
        </p:txBody>
      </p:sp>
    </p:spTree>
    <p:extLst>
      <p:ext uri="{BB962C8B-B14F-4D97-AF65-F5344CB8AC3E}">
        <p14:creationId xmlns:p14="http://schemas.microsoft.com/office/powerpoint/2010/main" val="158403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6">
            <a:extLst xmlns:a="http://schemas.openxmlformats.org/drawingml/2006/main">
              <a:ext uri="{FF2B5EF4-FFF2-40B4-BE49-F238E27FC236}">
                <a16:creationId xmlns:a16="http://schemas.microsoft.com/office/drawing/2014/main" id="{F374B424-B3B6-4112-9615-A415BCC5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서버리스 중심으로 시작하고 Python 분석을 나중에 붙입니다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45B52F93-C9B0-4E0D-9806-E840246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arrow-205-283">
            <a:extLst xmlns:a="http://schemas.openxmlformats.org/drawingml/2006/main">
              <a:ext uri="{FF2B5EF4-FFF2-40B4-BE49-F238E27FC236}">
                <a16:creationId xmlns:a16="http://schemas.microsoft.com/office/drawing/2014/main" id="{4C85E300-50FC-4C56-B3E3-D3172CAB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55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492-283">
            <a:extLst xmlns:a="http://schemas.openxmlformats.org/drawingml/2006/main">
              <a:ext uri="{FF2B5EF4-FFF2-40B4-BE49-F238E27FC236}">
                <a16:creationId xmlns:a16="http://schemas.microsoft.com/office/drawing/2014/main" id="{274D8A31-E43B-4756-B999-5E17C793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790-283">
            <a:extLst xmlns:a="http://schemas.openxmlformats.org/drawingml/2006/main">
              <a:ext uri="{FF2B5EF4-FFF2-40B4-BE49-F238E27FC236}">
                <a16:creationId xmlns:a16="http://schemas.microsoft.com/office/drawing/2014/main" id="{91A94283-7DB7-4461-B796-4153C7BF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95575"/>
            <a:ext cx="590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080-283">
            <a:extLst xmlns:a="http://schemas.openxmlformats.org/drawingml/2006/main">
              <a:ext uri="{FF2B5EF4-FFF2-40B4-BE49-F238E27FC236}">
                <a16:creationId xmlns:a16="http://schemas.microsoft.com/office/drawing/2014/main" id="{1B105796-475E-48B4-A48A-5677F78F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95575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fra-v1">
            <a:extLst xmlns:a="http://schemas.openxmlformats.org/drawingml/2006/main">
              <a:ext uri="{FF2B5EF4-FFF2-40B4-BE49-F238E27FC236}">
                <a16:creationId xmlns:a16="http://schemas.microsoft.com/office/drawing/2014/main" id="{FD01F8B0-14AE-4D26-994C-372FFCF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38125" cy="619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fra-v2">
            <a:extLst xmlns:a="http://schemas.openxmlformats.org/drawingml/2006/main">
              <a:ext uri="{FF2B5EF4-FFF2-40B4-BE49-F238E27FC236}">
                <a16:creationId xmlns:a16="http://schemas.microsoft.com/office/drawing/2014/main" id="{675B3131-0916-4272-B91B-DFF1285E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38125" cy="619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PC Web&#10;iPhone · Android-42">
            <a:extLst xmlns:a="http://schemas.openxmlformats.org/drawingml/2006/main">
              <a:ext uri="{FF2B5EF4-FFF2-40B4-BE49-F238E27FC236}">
                <a16:creationId xmlns:a16="http://schemas.microsoft.com/office/drawing/2014/main" id="{EB52B1AF-AEF9-4F5E-A1AF-3713DDA6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571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node-label-PC Web&#10;iPhone · Android-42">
            <a:extLst xmlns:a="http://schemas.openxmlformats.org/drawingml/2006/main">
              <a:ext uri="{FF2B5EF4-FFF2-40B4-BE49-F238E27FC236}">
                <a16:creationId xmlns:a16="http://schemas.microsoft.com/office/drawing/2014/main" id="{CE08A088-DB91-4F4E-83DF-76810EE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343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PC Web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iPhone · Android</a:t>
            </a:r>
          </a:p>
        </p:txBody>
      </p:sp>
      <p:sp>
        <p:nvSpPr>
          <p:cNvPr id="11" name="node-Cloudflare Pages&#10;React · TypeScript-267">
            <a:extLst xmlns:a="http://schemas.openxmlformats.org/drawingml/2006/main">
              <a:ext uri="{FF2B5EF4-FFF2-40B4-BE49-F238E27FC236}">
                <a16:creationId xmlns:a16="http://schemas.microsoft.com/office/drawing/2014/main" id="{7A21A91F-D221-4FC9-A0ED-12344737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90750"/>
            <a:ext cx="21431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de-label-Cloudflare Pages&#10;React · TypeScript-267">
            <a:extLst xmlns:a="http://schemas.openxmlformats.org/drawingml/2006/main">
              <a:ext uri="{FF2B5EF4-FFF2-40B4-BE49-F238E27FC236}">
                <a16:creationId xmlns:a16="http://schemas.microsoft.com/office/drawing/2014/main" id="{31F2C16D-2E8B-4C57-9CBA-9164350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66950"/>
            <a:ext cx="1914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Cloudflare Pages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React · TypeScript</a:t>
            </a:r>
          </a:p>
        </p:txBody>
      </p:sp>
      <p:sp>
        <p:nvSpPr>
          <p:cNvPr id="13" name="node-Supabase&#10;Auth · Edge Functions-554">
            <a:extLst xmlns:a="http://schemas.openxmlformats.org/drawingml/2006/main">
              <a:ext uri="{FF2B5EF4-FFF2-40B4-BE49-F238E27FC236}">
                <a16:creationId xmlns:a16="http://schemas.microsoft.com/office/drawing/2014/main" id="{475F7CA2-6973-4376-A4A8-4E145818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2247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node-label-Supabase&#10;Auth · Edge Functions-554">
            <a:extLst xmlns:a="http://schemas.openxmlformats.org/drawingml/2006/main">
              <a:ext uri="{FF2B5EF4-FFF2-40B4-BE49-F238E27FC236}">
                <a16:creationId xmlns:a16="http://schemas.microsoft.com/office/drawing/2014/main" id="{BA9AA499-23EB-49D8-96AF-A82FF168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2019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Supabase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Auth · Edge Functions</a:t>
            </a:r>
          </a:p>
        </p:txBody>
      </p:sp>
      <p:sp>
        <p:nvSpPr>
          <p:cNvPr id="15" name="node-PostgreSQL&#10;RLS · Audit-852">
            <a:extLst xmlns:a="http://schemas.openxmlformats.org/drawingml/2006/main">
              <a:ext uri="{FF2B5EF4-FFF2-40B4-BE49-F238E27FC236}">
                <a16:creationId xmlns:a16="http://schemas.microsoft.com/office/drawing/2014/main" id="{820A7D24-260F-4B4A-A23E-4635254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21717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node-label-PostgreSQL&#10;RLS · Audit-852">
            <a:extLst xmlns:a="http://schemas.openxmlformats.org/drawingml/2006/main">
              <a:ext uri="{FF2B5EF4-FFF2-40B4-BE49-F238E27FC236}">
                <a16:creationId xmlns:a16="http://schemas.microsoft.com/office/drawing/2014/main" id="{AB3C2F2D-3C79-4E35-8D69-07B3CDF9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1943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RLS · Audit</a:t>
            </a:r>
          </a:p>
        </p:txBody>
      </p:sp>
      <p:sp>
        <p:nvSpPr>
          <p:cNvPr id="17" name="node-Google Calendar&#10;OAuth 2.0 · API-1135">
            <a:extLst xmlns:a="http://schemas.openxmlformats.org/drawingml/2006/main">
              <a:ext uri="{FF2B5EF4-FFF2-40B4-BE49-F238E27FC236}">
                <a16:creationId xmlns:a16="http://schemas.microsoft.com/office/drawing/2014/main" id="{539C7890-10AD-494D-92AE-E27232A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190750"/>
            <a:ext cx="1095375" cy="12382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node-label-Google Calendar&#10;OAuth 2.0 · API-1135">
            <a:extLst xmlns:a="http://schemas.openxmlformats.org/drawingml/2006/main">
              <a:ext uri="{FF2B5EF4-FFF2-40B4-BE49-F238E27FC236}">
                <a16:creationId xmlns:a16="http://schemas.microsoft.com/office/drawing/2014/main" id="{F54470B6-3119-4715-81AC-0B903F2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266950"/>
            <a:ext cx="8667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Google Calendar</a:t>
            </a:r>
          </a:p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OAuth 2.0 · API</a:t>
            </a:r>
          </a:p>
        </p:txBody>
      </p:sp>
      <p:sp>
        <p:nvSpPr>
          <p:cNvPr id="19" name="node-향후 Python FastAPI&#10;Cloud Run · 분석/추천-505">
            <a:extLst xmlns:a="http://schemas.openxmlformats.org/drawingml/2006/main">
              <a:ext uri="{FF2B5EF4-FFF2-40B4-BE49-F238E27FC236}">
                <a16:creationId xmlns:a16="http://schemas.microsoft.com/office/drawing/2014/main" id="{400315D7-24B9-43CC-90DB-08D37B15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81625"/>
            <a:ext cx="300037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node-label-향후 Python FastAPI&#10;Cloud Run · 분석/추천-505">
            <a:extLst xmlns:a="http://schemas.openxmlformats.org/drawingml/2006/main">
              <a:ext uri="{FF2B5EF4-FFF2-40B4-BE49-F238E27FC236}">
                <a16:creationId xmlns:a16="http://schemas.microsoft.com/office/drawing/2014/main" id="{049255A4-9172-4331-9887-8B2103F9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457825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향후 Python FastAPI</a:t>
            </a:r>
          </a:p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Cloud Run · 분석/추천</a:t>
            </a:r>
          </a:p>
        </p:txBody>
      </p:sp>
      <p:sp>
        <p:nvSpPr>
          <p:cNvPr id="21" name="infra-sub">
            <a:extLst xmlns:a="http://schemas.openxmlformats.org/drawingml/2006/main">
              <a:ext uri="{FF2B5EF4-FFF2-40B4-BE49-F238E27FC236}">
                <a16:creationId xmlns:a16="http://schemas.microsoft.com/office/drawing/2014/main" id="{18412D94-6D9B-4A01-B99C-34F8B85C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배포: GitHub → Preview/Production  |  백업: 정기 암호화 pg_dump  |  모니터링: 인증·동기화·업로드 작업 상태</a:t>
            </a:r>
          </a:p>
        </p:txBody>
      </p:sp>
      <p:sp>
        <p:nvSpPr>
          <p:cNvPr id="22" name="infra-cost">
            <a:extLst xmlns:a="http://schemas.openxmlformats.org/drawingml/2006/main">
              <a:ext uri="{FF2B5EF4-FFF2-40B4-BE49-F238E27FC236}">
                <a16:creationId xmlns:a16="http://schemas.microsoft.com/office/drawing/2014/main" id="{F1A9B281-A940-4C3D-A6A4-449A17F1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MVP 고정비 0원 목표</a:t>
            </a:r>
          </a:p>
        </p:txBody>
      </p:sp>
    </p:spTree>
    <p:extLst>
      <p:ext uri="{BB962C8B-B14F-4D97-AF65-F5344CB8AC3E}">
        <p14:creationId xmlns:p14="http://schemas.microsoft.com/office/powerpoint/2010/main" val="2061430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7">
            <a:extLst xmlns:a="http://schemas.openxmlformats.org/drawingml/2006/main">
              <a:ext uri="{FF2B5EF4-FFF2-40B4-BE49-F238E27FC236}">
                <a16:creationId xmlns:a16="http://schemas.microsoft.com/office/drawing/2014/main" id="{B8725215-1294-41FD-B718-2A6D541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은행 명세는 검토 후 확정하는 방식으로 자동 분류합니다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2CCC0722-8F21-4139-98BC-B64B612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arrow-218-318">
            <a:extLst xmlns:a="http://schemas.openxmlformats.org/drawingml/2006/main">
              <a:ext uri="{FF2B5EF4-FFF2-40B4-BE49-F238E27FC236}">
                <a16:creationId xmlns:a16="http://schemas.microsoft.com/office/drawing/2014/main" id="{5894F192-44B3-4E75-AE11-30A94B49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289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row-454-318">
            <a:extLst xmlns:a="http://schemas.openxmlformats.org/drawingml/2006/main">
              <a:ext uri="{FF2B5EF4-FFF2-40B4-BE49-F238E27FC236}">
                <a16:creationId xmlns:a16="http://schemas.microsoft.com/office/drawing/2014/main" id="{6806C41C-456F-4B72-B394-0CEE245A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690-318">
            <a:extLst xmlns:a="http://schemas.openxmlformats.org/drawingml/2006/main">
              <a:ext uri="{FF2B5EF4-FFF2-40B4-BE49-F238E27FC236}">
                <a16:creationId xmlns:a16="http://schemas.microsoft.com/office/drawing/2014/main" id="{F6E587A5-653E-4399-979A-962C7306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926-318">
            <a:extLst xmlns:a="http://schemas.openxmlformats.org/drawingml/2006/main">
              <a:ext uri="{FF2B5EF4-FFF2-40B4-BE49-F238E27FC236}">
                <a16:creationId xmlns:a16="http://schemas.microsoft.com/office/drawing/2014/main" id="{83A8A591-1FEE-499B-A0AB-AEA0030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89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k-num-0">
            <a:extLst xmlns:a="http://schemas.openxmlformats.org/drawingml/2006/main">
              <a:ext uri="{FF2B5EF4-FFF2-40B4-BE49-F238E27FC236}">
                <a16:creationId xmlns:a16="http://schemas.microsoft.com/office/drawing/2014/main" id="{DA56A531-ABB0-4C67-A6AB-E583265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bank-head-0">
            <a:extLst xmlns:a="http://schemas.openxmlformats.org/drawingml/2006/main">
              <a:ext uri="{FF2B5EF4-FFF2-40B4-BE49-F238E27FC236}">
                <a16:creationId xmlns:a16="http://schemas.microsoft.com/office/drawing/2014/main" id="{944D2EF8-6A2F-40AE-B97C-9AA27B7E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업로드</a:t>
            </a:r>
          </a:p>
        </p:txBody>
      </p:sp>
      <p:sp>
        <p:nvSpPr>
          <p:cNvPr id="9" name="bank-box-0">
            <a:extLst xmlns:a="http://schemas.openxmlformats.org/drawingml/2006/main">
              <a:ext uri="{FF2B5EF4-FFF2-40B4-BE49-F238E27FC236}">
                <a16:creationId xmlns:a16="http://schemas.microsoft.com/office/drawing/2014/main" id="{64219854-FC11-487A-8519-B0D50DA7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body-0">
            <a:extLst xmlns:a="http://schemas.openxmlformats.org/drawingml/2006/main">
              <a:ext uri="{FF2B5EF4-FFF2-40B4-BE49-F238E27FC236}">
                <a16:creationId xmlns:a16="http://schemas.microsoft.com/office/drawing/2014/main" id="{96B20EA7-2D32-437B-A84D-6C2096C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CSV · XLSX</a:t>
            </a:r>
          </a:p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은행별 템플릿</a:t>
            </a:r>
          </a:p>
        </p:txBody>
      </p:sp>
      <p:sp>
        <p:nvSpPr>
          <p:cNvPr id="11" name="bank-num-1">
            <a:extLst xmlns:a="http://schemas.openxmlformats.org/drawingml/2006/main">
              <a:ext uri="{FF2B5EF4-FFF2-40B4-BE49-F238E27FC236}">
                <a16:creationId xmlns:a16="http://schemas.microsoft.com/office/drawing/2014/main" id="{4A72AA7A-D7AC-473A-A3BE-AB857D95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bank-head-1">
            <a:extLst xmlns:a="http://schemas.openxmlformats.org/drawingml/2006/main">
              <a:ext uri="{FF2B5EF4-FFF2-40B4-BE49-F238E27FC236}">
                <a16:creationId xmlns:a16="http://schemas.microsoft.com/office/drawing/2014/main" id="{08E232CB-C028-468A-98A4-8901724D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33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3" name="bank-box-1">
            <a:extLst xmlns:a="http://schemas.openxmlformats.org/drawingml/2006/main">
              <a:ext uri="{FF2B5EF4-FFF2-40B4-BE49-F238E27FC236}">
                <a16:creationId xmlns:a16="http://schemas.microsoft.com/office/drawing/2014/main" id="{6EF4E6A8-102F-43BA-9D43-A510263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0512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ank-body-1">
            <a:extLst xmlns:a="http://schemas.openxmlformats.org/drawingml/2006/main">
              <a:ext uri="{FF2B5EF4-FFF2-40B4-BE49-F238E27FC236}">
                <a16:creationId xmlns:a16="http://schemas.microsoft.com/office/drawing/2014/main" id="{AAC57352-2311-47EE-8F1A-1E99997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76575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날짜 · 금액</a:t>
            </a:r>
          </a:p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입출금 · 적요</a:t>
            </a:r>
          </a:p>
        </p:txBody>
      </p:sp>
      <p:sp>
        <p:nvSpPr>
          <p:cNvPr id="15" name="bank-num-2">
            <a:extLst xmlns:a="http://schemas.openxmlformats.org/drawingml/2006/main">
              <a:ext uri="{FF2B5EF4-FFF2-40B4-BE49-F238E27FC236}">
                <a16:creationId xmlns:a16="http://schemas.microsoft.com/office/drawing/2014/main" id="{A97FCE05-686F-44F3-8132-F83E74D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05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bank-head-2">
            <a:extLst xmlns:a="http://schemas.openxmlformats.org/drawingml/2006/main">
              <a:ext uri="{FF2B5EF4-FFF2-40B4-BE49-F238E27FC236}">
                <a16:creationId xmlns:a16="http://schemas.microsoft.com/office/drawing/2014/main" id="{646CF721-74F9-491C-8189-B370288E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33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중복 검사</a:t>
            </a:r>
          </a:p>
        </p:txBody>
      </p:sp>
      <p:sp>
        <p:nvSpPr>
          <p:cNvPr id="17" name="bank-box-2">
            <a:extLst xmlns:a="http://schemas.openxmlformats.org/drawingml/2006/main">
              <a:ext uri="{FF2B5EF4-FFF2-40B4-BE49-F238E27FC236}">
                <a16:creationId xmlns:a16="http://schemas.microsoft.com/office/drawing/2014/main" id="{08277CC0-8999-4958-9766-FA09300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0512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nk-body-2">
            <a:extLst xmlns:a="http://schemas.openxmlformats.org/drawingml/2006/main">
              <a:ext uri="{FF2B5EF4-FFF2-40B4-BE49-F238E27FC236}">
                <a16:creationId xmlns:a16="http://schemas.microsoft.com/office/drawing/2014/main" id="{8D7ADB7D-17EE-4CB2-813D-BB66991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계좌 · 날짜 · 금액</a:t>
            </a:r>
          </a:p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원문 해시</a:t>
            </a:r>
          </a:p>
        </p:txBody>
      </p:sp>
      <p:sp>
        <p:nvSpPr>
          <p:cNvPr id="19" name="bank-num-3">
            <a:extLst xmlns:a="http://schemas.openxmlformats.org/drawingml/2006/main">
              <a:ext uri="{FF2B5EF4-FFF2-40B4-BE49-F238E27FC236}">
                <a16:creationId xmlns:a16="http://schemas.microsoft.com/office/drawing/2014/main" id="{C5445511-083A-4828-830F-35CED44A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05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bank-head-3">
            <a:extLst xmlns:a="http://schemas.openxmlformats.org/drawingml/2006/main">
              <a:ext uri="{FF2B5EF4-FFF2-40B4-BE49-F238E27FC236}">
                <a16:creationId xmlns:a16="http://schemas.microsoft.com/office/drawing/2014/main" id="{AB21DD09-2B4C-4B3F-94DB-868E6EEB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자동 분류</a:t>
            </a:r>
          </a:p>
        </p:txBody>
      </p:sp>
      <p:sp>
        <p:nvSpPr>
          <p:cNvPr id="21" name="bank-box-3">
            <a:extLst xmlns:a="http://schemas.openxmlformats.org/drawingml/2006/main">
              <a:ext uri="{FF2B5EF4-FFF2-40B4-BE49-F238E27FC236}">
                <a16:creationId xmlns:a16="http://schemas.microsoft.com/office/drawing/2014/main" id="{7F58632E-9598-427A-89FA-C6FB633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nk-body-3">
            <a:extLst xmlns:a="http://schemas.openxmlformats.org/drawingml/2006/main">
              <a:ext uri="{FF2B5EF4-FFF2-40B4-BE49-F238E27FC236}">
                <a16:creationId xmlns:a16="http://schemas.microsoft.com/office/drawing/2014/main" id="{24F8A777-7D55-4B0D-A056-6A98E19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76575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사용자 규칙 →</a:t>
            </a:r>
          </a:p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통계/AI 모델</a:t>
            </a:r>
          </a:p>
        </p:txBody>
      </p:sp>
      <p:sp>
        <p:nvSpPr>
          <p:cNvPr id="23" name="bank-num-4">
            <a:extLst xmlns:a="http://schemas.openxmlformats.org/drawingml/2006/main">
              <a:ext uri="{FF2B5EF4-FFF2-40B4-BE49-F238E27FC236}">
                <a16:creationId xmlns:a16="http://schemas.microsoft.com/office/drawing/2014/main" id="{3C439CB1-0325-4546-B12B-45F554F7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05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bank-head-4">
            <a:extLst xmlns:a="http://schemas.openxmlformats.org/drawingml/2006/main">
              <a:ext uri="{FF2B5EF4-FFF2-40B4-BE49-F238E27FC236}">
                <a16:creationId xmlns:a16="http://schemas.microsoft.com/office/drawing/2014/main" id="{7D1C7D13-F0BD-4C9E-92F7-5432C207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336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검토·확정</a:t>
            </a:r>
          </a:p>
        </p:txBody>
      </p:sp>
      <p:sp>
        <p:nvSpPr>
          <p:cNvPr id="25" name="bank-box-4">
            <a:extLst xmlns:a="http://schemas.openxmlformats.org/drawingml/2006/main">
              <a:ext uri="{FF2B5EF4-FFF2-40B4-BE49-F238E27FC236}">
                <a16:creationId xmlns:a16="http://schemas.microsoft.com/office/drawing/2014/main" id="{A3CD65F9-3B6F-4653-AA85-8E2A483F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0512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bank-body-4">
            <a:extLst xmlns:a="http://schemas.openxmlformats.org/drawingml/2006/main">
              <a:ext uri="{FF2B5EF4-FFF2-40B4-BE49-F238E27FC236}">
                <a16:creationId xmlns:a16="http://schemas.microsoft.com/office/drawing/2014/main" id="{9AF84F1C-4E31-4D28-90C2-F24C82C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76575"/>
            <a:ext cx="1581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신뢰도 표시</a:t>
            </a:r>
          </a:p>
          <a:p xmlns:a="http://schemas.openxmlformats.org/drawingml/2006/main">
            <a:pPr algn="ctr">
              <a:def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일괄 수정</a:t>
            </a:r>
          </a:p>
        </p:txBody>
      </p:sp>
      <p:sp>
        <p:nvSpPr>
          <p:cNvPr id="27" name="bank-order-head">
            <a:extLst xmlns:a="http://schemas.openxmlformats.org/drawingml/2006/main">
              <a:ext uri="{FF2B5EF4-FFF2-40B4-BE49-F238E27FC236}">
                <a16:creationId xmlns:a16="http://schemas.microsoft.com/office/drawing/2014/main" id="{0450E039-7012-4F4F-8273-7B31EB0D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분류 우선순위</a:t>
            </a:r>
          </a:p>
        </p:txBody>
      </p:sp>
      <p:sp>
        <p:nvSpPr>
          <p:cNvPr id="28" name="bank-order">
            <a:extLst xmlns:a="http://schemas.openxmlformats.org/drawingml/2006/main">
              <a:ext uri="{FF2B5EF4-FFF2-40B4-BE49-F238E27FC236}">
                <a16:creationId xmlns:a16="http://schemas.microsoft.com/office/drawing/2014/main" id="{4EC354E2-5108-42A9-8AC8-D8A9F76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사용자가 만든 규칙  →  과거 승인 이력  →  상호명 사전  →  미분류</a:t>
            </a:r>
          </a:p>
        </p:txBody>
      </p:sp>
      <p:sp>
        <p:nvSpPr>
          <p:cNvPr id="29" name="bank-safety">
            <a:extLst xmlns:a="http://schemas.openxmlformats.org/drawingml/2006/main">
              <a:ext uri="{FF2B5EF4-FFF2-40B4-BE49-F238E27FC236}">
                <a16:creationId xmlns:a16="http://schemas.microsoft.com/office/drawing/2014/main" id="{59A59E0B-DD82-4F8C-B9CE-FAA0A43D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원본 파일은 처리 후 삭제 또는 짧은 보존기간</a:t>
            </a:r>
          </a:p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잘못된 분류는 원클릭 수정하고 다음 학습에 반영</a:t>
            </a:r>
          </a:p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확정 전에는 가계 원장에 반영하지 않음</a:t>
            </a:r>
          </a:p>
          <a:p xmlns:a="http://schemas.openxmlformats.org/drawingml/2006/main">
            <a:pPr algn="l">
              <a:def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• 은행별 컬럼 변화는 매핑 템플릿 버전으로 관리</a:t>
            </a:r>
          </a:p>
        </p:txBody>
      </p:sp>
    </p:spTree>
    <p:extLst>
      <p:ext uri="{BB962C8B-B14F-4D97-AF65-F5344CB8AC3E}">
        <p14:creationId xmlns:p14="http://schemas.microsoft.com/office/powerpoint/2010/main" val="1425503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8">
            <a:extLst xmlns:a="http://schemas.openxmlformats.org/drawingml/2006/main">
              <a:ext uri="{FF2B5EF4-FFF2-40B4-BE49-F238E27FC236}">
                <a16:creationId xmlns:a16="http://schemas.microsoft.com/office/drawing/2014/main" id="{96C7DFF0-E26A-47EF-8338-D232D822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가족 단위 권한과 금융 데이터 보호를 DB에서 강제합니다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2E4F740A-7BE1-4923-8C67-7E9CB8B5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sec-k-0">
            <a:extLst xmlns:a="http://schemas.openxmlformats.org/drawingml/2006/main">
              <a:ext uri="{FF2B5EF4-FFF2-40B4-BE49-F238E27FC236}">
                <a16:creationId xmlns:a16="http://schemas.microsoft.com/office/drawing/2014/main" id="{759C564E-17BB-4BDE-9D46-EAC954F4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데이터 경계</a:t>
            </a:r>
          </a:p>
        </p:txBody>
      </p:sp>
      <p:sp>
        <p:nvSpPr>
          <p:cNvPr id="4" name="sec-h-0">
            <a:extLst xmlns:a="http://schemas.openxmlformats.org/drawingml/2006/main">
              <a:ext uri="{FF2B5EF4-FFF2-40B4-BE49-F238E27FC236}">
                <a16:creationId xmlns:a16="http://schemas.microsoft.com/office/drawing/2014/main" id="{9560FCB0-F9E0-45AE-AF78-D6E3DEB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household</a:t>
            </a:r>
          </a:p>
        </p:txBody>
      </p:sp>
      <p:sp>
        <p:nvSpPr>
          <p:cNvPr id="5" name="sec-rule-0">
            <a:extLst xmlns:a="http://schemas.openxmlformats.org/drawingml/2006/main">
              <a:ext uri="{FF2B5EF4-FFF2-40B4-BE49-F238E27FC236}">
                <a16:creationId xmlns:a16="http://schemas.microsoft.com/office/drawing/2014/main" id="{027A64FF-90CF-46DD-A827-8F44EE1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-b-0">
            <a:extLst xmlns:a="http://schemas.openxmlformats.org/drawingml/2006/main">
              <a:ext uri="{FF2B5EF4-FFF2-40B4-BE49-F238E27FC236}">
                <a16:creationId xmlns:a16="http://schemas.microsoft.com/office/drawing/2014/main" id="{249C68D9-10FE-4224-9EE4-0252010B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모든 업무 데이터는 가정 ID에 연결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부부·가족·향후 그룹 확장</a:t>
            </a:r>
          </a:p>
        </p:txBody>
      </p:sp>
      <p:sp>
        <p:nvSpPr>
          <p:cNvPr id="7" name="sec-k-1">
            <a:extLst xmlns:a="http://schemas.openxmlformats.org/drawingml/2006/main">
              <a:ext uri="{FF2B5EF4-FFF2-40B4-BE49-F238E27FC236}">
                <a16:creationId xmlns:a16="http://schemas.microsoft.com/office/drawing/2014/main" id="{F0039005-DE81-4213-93DF-91073CF4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14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접근 제어</a:t>
            </a:r>
          </a:p>
        </p:txBody>
      </p:sp>
      <p:sp>
        <p:nvSpPr>
          <p:cNvPr id="8" name="sec-h-1">
            <a:extLst xmlns:a="http://schemas.openxmlformats.org/drawingml/2006/main">
              <a:ext uri="{FF2B5EF4-FFF2-40B4-BE49-F238E27FC236}">
                <a16:creationId xmlns:a16="http://schemas.microsoft.com/office/drawing/2014/main" id="{2CCE1830-E505-40E9-96F2-770658E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43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PostgreSQL RLS</a:t>
            </a:r>
          </a:p>
        </p:txBody>
      </p:sp>
      <p:sp>
        <p:nvSpPr>
          <p:cNvPr id="9" name="sec-rule-1">
            <a:extLst xmlns:a="http://schemas.openxmlformats.org/drawingml/2006/main">
              <a:ext uri="{FF2B5EF4-FFF2-40B4-BE49-F238E27FC236}">
                <a16:creationId xmlns:a16="http://schemas.microsoft.com/office/drawing/2014/main" id="{C0167A52-6604-4DD2-8A54-1423E2C9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-b-1">
            <a:extLst xmlns:a="http://schemas.openxmlformats.org/drawingml/2006/main">
              <a:ext uri="{FF2B5EF4-FFF2-40B4-BE49-F238E27FC236}">
                <a16:creationId xmlns:a16="http://schemas.microsoft.com/office/drawing/2014/main" id="{AF3A9C13-7883-46E8-ABFE-EA092CA7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다른 가정 ID를 알아도 조회 불가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owner · admin · member · viewer</a:t>
            </a:r>
          </a:p>
        </p:txBody>
      </p:sp>
      <p:sp>
        <p:nvSpPr>
          <p:cNvPr id="11" name="sec-k-2">
            <a:extLst xmlns:a="http://schemas.openxmlformats.org/drawingml/2006/main">
              <a:ext uri="{FF2B5EF4-FFF2-40B4-BE49-F238E27FC236}">
                <a16:creationId xmlns:a16="http://schemas.microsoft.com/office/drawing/2014/main" id="{ED19092A-6F98-43BC-934A-377603E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민감정보</a:t>
            </a:r>
          </a:p>
        </p:txBody>
      </p:sp>
      <p:sp>
        <p:nvSpPr>
          <p:cNvPr id="12" name="sec-h-2">
            <a:extLst xmlns:a="http://schemas.openxmlformats.org/drawingml/2006/main">
              <a:ext uri="{FF2B5EF4-FFF2-40B4-BE49-F238E27FC236}">
                <a16:creationId xmlns:a16="http://schemas.microsoft.com/office/drawing/2014/main" id="{7E2F1C97-AB50-4F85-A835-247C0BDC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Server only</a:t>
            </a:r>
          </a:p>
        </p:txBody>
      </p:sp>
      <p:sp>
        <p:nvSpPr>
          <p:cNvPr id="13" name="sec-rule-2">
            <a:extLst xmlns:a="http://schemas.openxmlformats.org/drawingml/2006/main">
              <a:ext uri="{FF2B5EF4-FFF2-40B4-BE49-F238E27FC236}">
                <a16:creationId xmlns:a16="http://schemas.microsoft.com/office/drawing/2014/main" id="{E622C24D-424C-4CE0-97B0-6D77E058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-b-2">
            <a:extLst xmlns:a="http://schemas.openxmlformats.org/drawingml/2006/main">
              <a:ext uri="{FF2B5EF4-FFF2-40B4-BE49-F238E27FC236}">
                <a16:creationId xmlns:a16="http://schemas.microsoft.com/office/drawing/2014/main" id="{3BD06395-C44A-4D27-A212-E880597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480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Google refresh token과 service key는</a:t>
            </a:r>
          </a:p>
          <a:p xmlns:a="http://schemas.openxmlformats.org/drawingml/2006/main">
            <a:pPr algn="l">
              <a:def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브라우저·로그에 노출하지 않음</a:t>
            </a:r>
          </a:p>
        </p:txBody>
      </p:sp>
      <p:sp>
        <p:nvSpPr>
          <p:cNvPr id="15" name="sec-bottom">
            <a:extLst xmlns:a="http://schemas.openxmlformats.org/drawingml/2006/main">
              <a:ext uri="{FF2B5EF4-FFF2-40B4-BE49-F238E27FC236}">
                <a16:creationId xmlns:a16="http://schemas.microsoft.com/office/drawing/2014/main" id="{BC9976AB-DB49-4A2E-9D8C-28BD1CAE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099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ec-bottom-title">
            <a:extLst xmlns:a="http://schemas.openxmlformats.org/drawingml/2006/main">
              <a:ext uri="{FF2B5EF4-FFF2-40B4-BE49-F238E27FC236}">
                <a16:creationId xmlns:a16="http://schemas.microsoft.com/office/drawing/2014/main" id="{EDD17E1F-D675-4546-A096-FE05787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은행 명세 처리 정책</a:t>
            </a:r>
          </a:p>
        </p:txBody>
      </p:sp>
      <p:sp>
        <p:nvSpPr>
          <p:cNvPr id="17" name="sec-bottom-body">
            <a:extLst xmlns:a="http://schemas.openxmlformats.org/drawingml/2006/main">
              <a:ext uri="{FF2B5EF4-FFF2-40B4-BE49-F238E27FC236}">
                <a16:creationId xmlns:a16="http://schemas.microsoft.com/office/drawing/2014/main" id="{FF2DBA94-AF95-445C-B5ED-8A8DD260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파일 형식 검증 · 크기 제한 · 악성 파일 차단 · 원문 최소 보관 · 업로드/확정 감사 로그 · 정기 백업 및 복구 테스트</a:t>
            </a:r>
          </a:p>
        </p:txBody>
      </p:sp>
      <p:sp>
        <p:nvSpPr>
          <p:cNvPr id="18" name="sec-bottom-callout">
            <a:extLst xmlns:a="http://schemas.openxmlformats.org/drawingml/2006/main">
              <a:ext uri="{FF2B5EF4-FFF2-40B4-BE49-F238E27FC236}">
                <a16:creationId xmlns:a16="http://schemas.microsoft.com/office/drawing/2014/main" id="{2A99A34D-7E19-46D6-88FC-F6194FE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8637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Free DB에는 자동 백업이 없으므로 별도 암호화 백업을 운영합니다.</a:t>
            </a:r>
          </a:p>
        </p:txBody>
      </p:sp>
    </p:spTree>
    <p:extLst>
      <p:ext uri="{BB962C8B-B14F-4D97-AF65-F5344CB8AC3E}">
        <p14:creationId xmlns:p14="http://schemas.microsoft.com/office/powerpoint/2010/main" val="1261102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9">
            <a:extLst xmlns:a="http://schemas.openxmlformats.org/drawingml/2006/main">
              <a:ext uri="{FF2B5EF4-FFF2-40B4-BE49-F238E27FC236}">
                <a16:creationId xmlns:a16="http://schemas.microsoft.com/office/drawing/2014/main" id="{4B470C92-72DC-4594-BBBE-15DD6C4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8주 MVP 후 자동화와 분석을 단계적으로 고도화합니다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063B45A-BA49-478D-BA46-D9CE70EA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road-line">
            <a:extLst xmlns:a="http://schemas.openxmlformats.org/drawingml/2006/main">
              <a:ext uri="{FF2B5EF4-FFF2-40B4-BE49-F238E27FC236}">
                <a16:creationId xmlns:a16="http://schemas.microsoft.com/office/drawing/2014/main" id="{9E4EC487-5EBD-4FB5-80F8-9C430D8F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-dot-0">
            <a:extLst xmlns:a="http://schemas.openxmlformats.org/drawingml/2006/main">
              <a:ext uri="{FF2B5EF4-FFF2-40B4-BE49-F238E27FC236}">
                <a16:creationId xmlns:a16="http://schemas.microsoft.com/office/drawing/2014/main" id="{22FEF668-D1BB-4429-A59B-BC22DF68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-time-0">
            <a:extLst xmlns:a="http://schemas.openxmlformats.org/drawingml/2006/main">
              <a:ext uri="{FF2B5EF4-FFF2-40B4-BE49-F238E27FC236}">
                <a16:creationId xmlns:a16="http://schemas.microsoft.com/office/drawing/2014/main" id="{EFF21AC1-781C-4997-A88F-3D26A742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1–2주</a:t>
            </a:r>
          </a:p>
        </p:txBody>
      </p:sp>
      <p:sp>
        <p:nvSpPr>
          <p:cNvPr id="6" name="road-head-0">
            <a:extLst xmlns:a="http://schemas.openxmlformats.org/drawingml/2006/main">
              <a:ext uri="{FF2B5EF4-FFF2-40B4-BE49-F238E27FC236}">
                <a16:creationId xmlns:a16="http://schemas.microsoft.com/office/drawing/2014/main" id="{A132E82D-F2D3-4838-89A1-7F611B3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기반·계정</a:t>
            </a:r>
          </a:p>
        </p:txBody>
      </p:sp>
      <p:sp>
        <p:nvSpPr>
          <p:cNvPr id="7" name="road-body-0">
            <a:extLst xmlns:a="http://schemas.openxmlformats.org/drawingml/2006/main">
              <a:ext uri="{FF2B5EF4-FFF2-40B4-BE49-F238E27FC236}">
                <a16:creationId xmlns:a16="http://schemas.microsoft.com/office/drawing/2014/main" id="{1790C60D-E717-4D34-9644-AA6072B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React · Supabase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household · RLS</a:t>
            </a:r>
          </a:p>
        </p:txBody>
      </p:sp>
      <p:sp>
        <p:nvSpPr>
          <p:cNvPr id="8" name="road-dot-1">
            <a:extLst xmlns:a="http://schemas.openxmlformats.org/drawingml/2006/main">
              <a:ext uri="{FF2B5EF4-FFF2-40B4-BE49-F238E27FC236}">
                <a16:creationId xmlns:a16="http://schemas.microsoft.com/office/drawing/2014/main" id="{7DA0CEF4-F8E1-45BE-B7AD-AB3FADD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-time-1">
            <a:extLst xmlns:a="http://schemas.openxmlformats.org/drawingml/2006/main">
              <a:ext uri="{FF2B5EF4-FFF2-40B4-BE49-F238E27FC236}">
                <a16:creationId xmlns:a16="http://schemas.microsoft.com/office/drawing/2014/main" id="{84EF106C-6A98-4850-966C-7A01D7D4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3–4주</a:t>
            </a:r>
          </a:p>
        </p:txBody>
      </p:sp>
      <p:sp>
        <p:nvSpPr>
          <p:cNvPr id="10" name="road-head-1">
            <a:extLst xmlns:a="http://schemas.openxmlformats.org/drawingml/2006/main">
              <a:ext uri="{FF2B5EF4-FFF2-40B4-BE49-F238E27FC236}">
                <a16:creationId xmlns:a16="http://schemas.microsoft.com/office/drawing/2014/main" id="{DBF947A3-C8E1-44F3-8B2D-1956FA3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가계 원장</a:t>
            </a:r>
          </a:p>
        </p:txBody>
      </p:sp>
      <p:sp>
        <p:nvSpPr>
          <p:cNvPr id="11" name="road-body-1">
            <a:extLst xmlns:a="http://schemas.openxmlformats.org/drawingml/2006/main">
              <a:ext uri="{FF2B5EF4-FFF2-40B4-BE49-F238E27FC236}">
                <a16:creationId xmlns:a16="http://schemas.microsoft.com/office/drawing/2014/main" id="{8F2CA750-EFF5-463E-A2A9-A73ADFC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거래 · 이체 · 예산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CSV/XLSX 업로드</a:t>
            </a:r>
          </a:p>
        </p:txBody>
      </p:sp>
      <p:sp>
        <p:nvSpPr>
          <p:cNvPr id="12" name="road-dot-2">
            <a:extLst xmlns:a="http://schemas.openxmlformats.org/drawingml/2006/main">
              <a:ext uri="{FF2B5EF4-FFF2-40B4-BE49-F238E27FC236}">
                <a16:creationId xmlns:a16="http://schemas.microsoft.com/office/drawing/2014/main" id="{3A062762-495B-4488-880D-3B0C9AE0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-time-2">
            <a:extLst xmlns:a="http://schemas.openxmlformats.org/drawingml/2006/main">
              <a:ext uri="{FF2B5EF4-FFF2-40B4-BE49-F238E27FC236}">
                <a16:creationId xmlns:a16="http://schemas.microsoft.com/office/drawing/2014/main" id="{C87CE656-8BBB-44F8-8D18-B8F5BE9B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5–6주</a:t>
            </a:r>
          </a:p>
        </p:txBody>
      </p:sp>
      <p:sp>
        <p:nvSpPr>
          <p:cNvPr id="14" name="road-head-2">
            <a:extLst xmlns:a="http://schemas.openxmlformats.org/drawingml/2006/main">
              <a:ext uri="{FF2B5EF4-FFF2-40B4-BE49-F238E27FC236}">
                <a16:creationId xmlns:a16="http://schemas.microsoft.com/office/drawing/2014/main" id="{EBEAF98C-53BC-4871-8C9C-7CBB650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일정·생활</a:t>
            </a:r>
          </a:p>
        </p:txBody>
      </p:sp>
      <p:sp>
        <p:nvSpPr>
          <p:cNvPr id="15" name="road-body-2">
            <a:extLst xmlns:a="http://schemas.openxmlformats.org/drawingml/2006/main">
              <a:ext uri="{FF2B5EF4-FFF2-40B4-BE49-F238E27FC236}">
                <a16:creationId xmlns:a16="http://schemas.microsoft.com/office/drawing/2014/main" id="{3519C898-FB91-43F9-A10E-989B419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Google Calendar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디데이 · 목표</a:t>
            </a:r>
          </a:p>
        </p:txBody>
      </p:sp>
      <p:sp>
        <p:nvSpPr>
          <p:cNvPr id="16" name="road-dot-3">
            <a:extLst xmlns:a="http://schemas.openxmlformats.org/drawingml/2006/main">
              <a:ext uri="{FF2B5EF4-FFF2-40B4-BE49-F238E27FC236}">
                <a16:creationId xmlns:a16="http://schemas.microsoft.com/office/drawing/2014/main" id="{B5E567D1-5837-4A34-87DD-2F34D092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-time-3">
            <a:extLst xmlns:a="http://schemas.openxmlformats.org/drawingml/2006/main">
              <a:ext uri="{FF2B5EF4-FFF2-40B4-BE49-F238E27FC236}">
                <a16:creationId xmlns:a16="http://schemas.microsoft.com/office/drawing/2014/main" id="{39180202-2FAB-48FA-A9BD-242E4745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7–8주</a:t>
            </a:r>
          </a:p>
        </p:txBody>
      </p:sp>
      <p:sp>
        <p:nvSpPr>
          <p:cNvPr id="18" name="road-head-3">
            <a:extLst xmlns:a="http://schemas.openxmlformats.org/drawingml/2006/main">
              <a:ext uri="{FF2B5EF4-FFF2-40B4-BE49-F238E27FC236}">
                <a16:creationId xmlns:a16="http://schemas.microsoft.com/office/drawing/2014/main" id="{E5541F56-C8CE-4636-8F72-3CCBE8E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출시·안정화</a:t>
            </a:r>
          </a:p>
        </p:txBody>
      </p:sp>
      <p:sp>
        <p:nvSpPr>
          <p:cNvPr id="19" name="road-body-3">
            <a:extLst xmlns:a="http://schemas.openxmlformats.org/drawingml/2006/main">
              <a:ext uri="{FF2B5EF4-FFF2-40B4-BE49-F238E27FC236}">
                <a16:creationId xmlns:a16="http://schemas.microsoft.com/office/drawing/2014/main" id="{0E68639E-D51C-4ECD-B0FC-60D60D45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반응형 QA</a:t>
            </a:r>
          </a:p>
          <a:p xmlns:a="http://schemas.openxmlformats.org/drawingml/2006/main">
            <a:pPr algn="l">
              <a:def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백업 · 보안 · E2E</a:t>
            </a:r>
          </a:p>
        </p:txBody>
      </p:sp>
      <p:sp>
        <p:nvSpPr>
          <p:cNvPr id="20" name="road-next">
            <a:extLst xmlns:a="http://schemas.openxmlformats.org/drawingml/2006/main">
              <a:ext uri="{FF2B5EF4-FFF2-40B4-BE49-F238E27FC236}">
                <a16:creationId xmlns:a16="http://schemas.microsoft.com/office/drawing/2014/main" id="{FE2F5CFF-4454-4395-A1FA-85EF16D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4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9E42"/>
                </a:solidFill>
                <a:latin typeface="Malgun Gothic"/>
                <a:ea typeface="Malgun Gothic"/>
                <a:cs typeface="Malgun Gothic"/>
              </a:rPr>
              <a:t>MVP 이후</a:t>
            </a:r>
          </a:p>
        </p:txBody>
      </p:sp>
      <p:sp>
        <p:nvSpPr>
          <p:cNvPr id="21" name="road-next-body">
            <a:extLst xmlns:a="http://schemas.openxmlformats.org/drawingml/2006/main">
              <a:ext uri="{FF2B5EF4-FFF2-40B4-BE49-F238E27FC236}">
                <a16:creationId xmlns:a16="http://schemas.microsoft.com/office/drawing/2014/main" id="{68733356-E079-4E82-BEDA-1AD15919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양방향 일정 동기화 → 은행별 매핑 확대 → 가계 대시보드 → Python 월간 비용 제안</a:t>
            </a:r>
          </a:p>
        </p:txBody>
      </p:sp>
    </p:spTree>
    <p:extLst>
      <p:ext uri="{BB962C8B-B14F-4D97-AF65-F5344CB8AC3E}">
        <p14:creationId xmlns:p14="http://schemas.microsoft.com/office/powerpoint/2010/main" val="615742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0">
            <a:extLst xmlns:a="http://schemas.openxmlformats.org/drawingml/2006/main">
              <a:ext uri="{FF2B5EF4-FFF2-40B4-BE49-F238E27FC236}">
                <a16:creationId xmlns:a16="http://schemas.microsoft.com/office/drawing/2014/main" id="{78C5BD72-4F9D-4605-A486-67E04823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세 가지 운영 원칙을 확정하면 바로 구축할 수 있습니다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E9CE933D-F293-42E1-A6DA-D79FDF1F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close-num-0">
            <a:extLst xmlns:a="http://schemas.openxmlformats.org/drawingml/2006/main">
              <a:ext uri="{FF2B5EF4-FFF2-40B4-BE49-F238E27FC236}">
                <a16:creationId xmlns:a16="http://schemas.microsoft.com/office/drawing/2014/main" id="{FB24F229-ED8C-4827-9DD7-177BC738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close-head-0">
            <a:extLst xmlns:a="http://schemas.openxmlformats.org/drawingml/2006/main">
              <a:ext uri="{FF2B5EF4-FFF2-40B4-BE49-F238E27FC236}">
                <a16:creationId xmlns:a16="http://schemas.microsoft.com/office/drawing/2014/main" id="{D9094D33-B853-46B4-883D-4434C917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19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공유 범위</a:t>
            </a:r>
          </a:p>
        </p:txBody>
      </p:sp>
      <p:sp>
        <p:nvSpPr>
          <p:cNvPr id="5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71B26C52-B160-499E-BF23-8FC0F2BF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192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가계 거래는 전부 공유할지, 개인 용돈 계정을 분리할지</a:t>
            </a:r>
          </a:p>
        </p:txBody>
      </p:sp>
      <p:sp>
        <p:nvSpPr>
          <p:cNvPr id="6" name="close-line-0">
            <a:extLst xmlns:a="http://schemas.openxmlformats.org/drawingml/2006/main">
              <a:ext uri="{FF2B5EF4-FFF2-40B4-BE49-F238E27FC236}">
                <a16:creationId xmlns:a16="http://schemas.microsoft.com/office/drawing/2014/main" id="{093C0BBB-616C-4B2C-88E4-78D1D134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um-1">
            <a:extLst xmlns:a="http://schemas.openxmlformats.org/drawingml/2006/main">
              <a:ext uri="{FF2B5EF4-FFF2-40B4-BE49-F238E27FC236}">
                <a16:creationId xmlns:a16="http://schemas.microsoft.com/office/drawing/2014/main" id="{5F434ECF-C057-422F-B4F0-87B9D79E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close-head-1">
            <a:extLst xmlns:a="http://schemas.openxmlformats.org/drawingml/2006/main">
              <a:ext uri="{FF2B5EF4-FFF2-40B4-BE49-F238E27FC236}">
                <a16:creationId xmlns:a16="http://schemas.microsoft.com/office/drawing/2014/main" id="{270A0E67-E6F2-4DF6-9AE4-1C94D37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9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2DDFE1DF-BC0D-44D7-8EFC-8A263C83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98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개인 캘린더를 연결할지, 별도 가족 캘린더를 운영할지</a:t>
            </a:r>
          </a:p>
        </p:txBody>
      </p:sp>
      <p:sp>
        <p:nvSpPr>
          <p:cNvPr id="10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FE25603F-F9C0-4EB4-90C1-0AE1A1C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um-2">
            <a:extLst xmlns:a="http://schemas.openxmlformats.org/drawingml/2006/main">
              <a:ext uri="{FF2B5EF4-FFF2-40B4-BE49-F238E27FC236}">
                <a16:creationId xmlns:a16="http://schemas.microsoft.com/office/drawing/2014/main" id="{493A8D34-EB2A-4BD9-A4C6-A2D8CB2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close-head-2">
            <a:extLst xmlns:a="http://schemas.openxmlformats.org/drawingml/2006/main">
              <a:ext uri="{FF2B5EF4-FFF2-40B4-BE49-F238E27FC236}">
                <a16:creationId xmlns:a16="http://schemas.microsoft.com/office/drawing/2014/main" id="{22FE57BF-F4DB-4EFB-AB5C-726C9B4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820"/>
                </a:solidFill>
                <a:latin typeface="Malgun Gothic"/>
                <a:ea typeface="Malgun Gothic"/>
                <a:cs typeface="Malgun Gothic"/>
              </a:rPr>
              <a:t>명세 형식</a:t>
            </a:r>
          </a:p>
        </p:txBody>
      </p:sp>
      <p:sp>
        <p:nvSpPr>
          <p:cNvPr id="13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665AA660-24D1-4A75-8597-9CBCFF2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9636E"/>
                </a:solidFill>
                <a:latin typeface="Malgun Gothic"/>
                <a:ea typeface="Malgun Gothic"/>
                <a:cs typeface="Malgun Gothic"/>
              </a:rPr>
              <a:t>우선 지원할 은행·카드사와 실제 CSV/XLSX 샘플 확보</a:t>
            </a:r>
          </a:p>
        </p:txBody>
      </p:sp>
      <p:sp>
        <p:nvSpPr>
          <p:cNvPr id="14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DFEAED90-5484-4C6F-BAA1-64375BE7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e-callout">
            <a:extLst xmlns:a="http://schemas.openxmlformats.org/drawingml/2006/main">
              <a:ext uri="{FF2B5EF4-FFF2-40B4-BE49-F238E27FC236}">
                <a16:creationId xmlns:a16="http://schemas.microsoft.com/office/drawing/2014/main" id="{0CBDF2C6-5FDD-4495-864D-970FE0B3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callout-text">
            <a:extLst xmlns:a="http://schemas.openxmlformats.org/drawingml/2006/main">
              <a:ext uri="{FF2B5EF4-FFF2-40B4-BE49-F238E27FC236}">
                <a16:creationId xmlns:a16="http://schemas.microsoft.com/office/drawing/2014/main" id="{AFCB08C5-11EC-4D6D-A8C5-04CE3A3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다음 산출물: 화면 와이어프레임 → ERD v1 → 권한 명세 → 1차 스프린트 백로그</a:t>
            </a:r>
          </a:p>
        </p:txBody>
      </p:sp>
    </p:spTree>
    <p:extLst>
      <p:ext uri="{BB962C8B-B14F-4D97-AF65-F5344CB8AC3E}">
        <p14:creationId xmlns:p14="http://schemas.microsoft.com/office/powerpoint/2010/main" val="331273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2026-08-23T13:31:25.1660000Z</dcterms:created>
  <dcterms:modified xsi:type="dcterms:W3CDTF">2026-08-23T13:31:25.1660000Z</dcterms:modified>
</coreProperties>
</file>